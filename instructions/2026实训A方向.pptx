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0"/>
  </p:notesMasterIdLst>
  <p:sldIdLst>
    <p:sldId id="256" r:id="rId2"/>
    <p:sldId id="2790715" r:id="rId3"/>
    <p:sldId id="2790757" r:id="rId4"/>
    <p:sldId id="2790794" r:id="rId5"/>
    <p:sldId id="2790793" r:id="rId6"/>
    <p:sldId id="2790763" r:id="rId7"/>
    <p:sldId id="2790762" r:id="rId8"/>
    <p:sldId id="2790764" r:id="rId9"/>
    <p:sldId id="2790759" r:id="rId10"/>
    <p:sldId id="2790760" r:id="rId11"/>
    <p:sldId id="2790761" r:id="rId12"/>
    <p:sldId id="2790790" r:id="rId13"/>
    <p:sldId id="2790766" r:id="rId14"/>
    <p:sldId id="2790768" r:id="rId15"/>
    <p:sldId id="2790767" r:id="rId16"/>
    <p:sldId id="2790789" r:id="rId17"/>
    <p:sldId id="2790773" r:id="rId18"/>
    <p:sldId id="2790769" r:id="rId19"/>
    <p:sldId id="2790770" r:id="rId20"/>
    <p:sldId id="2790771" r:id="rId21"/>
    <p:sldId id="2790772" r:id="rId22"/>
    <p:sldId id="2790791" r:id="rId23"/>
    <p:sldId id="2790774" r:id="rId24"/>
    <p:sldId id="2790775" r:id="rId25"/>
    <p:sldId id="2790776" r:id="rId26"/>
    <p:sldId id="2790777" r:id="rId27"/>
    <p:sldId id="2790778" r:id="rId28"/>
    <p:sldId id="2790779" r:id="rId29"/>
    <p:sldId id="2790758" r:id="rId30"/>
    <p:sldId id="2790780" r:id="rId31"/>
    <p:sldId id="2790781" r:id="rId32"/>
    <p:sldId id="2790782" r:id="rId33"/>
    <p:sldId id="2790783" r:id="rId34"/>
    <p:sldId id="2790784" r:id="rId35"/>
    <p:sldId id="2790785" r:id="rId36"/>
    <p:sldId id="2790786" r:id="rId37"/>
    <p:sldId id="2790787" r:id="rId38"/>
    <p:sldId id="2790788" r:id="rId3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E1AB2ECC-A9D9-DB4B-A2E5-66F26B627AD5}">
          <p14:sldIdLst>
            <p14:sldId id="256"/>
            <p14:sldId id="2790715"/>
            <p14:sldId id="2790757"/>
            <p14:sldId id="2790794"/>
            <p14:sldId id="2790793"/>
            <p14:sldId id="2790763"/>
            <p14:sldId id="2790762"/>
            <p14:sldId id="2790764"/>
            <p14:sldId id="2790759"/>
            <p14:sldId id="2790760"/>
            <p14:sldId id="2790761"/>
            <p14:sldId id="2790790"/>
            <p14:sldId id="2790766"/>
            <p14:sldId id="2790768"/>
            <p14:sldId id="2790767"/>
            <p14:sldId id="2790789"/>
            <p14:sldId id="2790773"/>
            <p14:sldId id="2790769"/>
            <p14:sldId id="2790770"/>
            <p14:sldId id="2790771"/>
            <p14:sldId id="2790772"/>
            <p14:sldId id="2790791"/>
          </p14:sldIdLst>
        </p14:section>
        <p14:section name="默认节" id="{6F1DEC2E-41B1-4066-9B96-E97BB0ED5080}">
          <p14:sldIdLst>
            <p14:sldId id="2790774"/>
            <p14:sldId id="2790775"/>
            <p14:sldId id="2790776"/>
            <p14:sldId id="2790777"/>
            <p14:sldId id="2790778"/>
            <p14:sldId id="2790779"/>
            <p14:sldId id="2790758"/>
            <p14:sldId id="2790780"/>
            <p14:sldId id="2790781"/>
            <p14:sldId id="2790782"/>
            <p14:sldId id="2790783"/>
            <p14:sldId id="2790784"/>
            <p14:sldId id="2790785"/>
            <p14:sldId id="2790786"/>
            <p14:sldId id="2790787"/>
            <p14:sldId id="279078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5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295"/>
    <p:restoredTop sz="97020"/>
  </p:normalViewPr>
  <p:slideViewPr>
    <p:cSldViewPr snapToGrid="0" showGuides="1">
      <p:cViewPr varScale="1">
        <p:scale>
          <a:sx n="111" d="100"/>
          <a:sy n="111" d="100"/>
        </p:scale>
        <p:origin x="630" y="78"/>
      </p:cViewPr>
      <p:guideLst>
        <p:guide orient="horz" pos="2160"/>
        <p:guide pos="385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B7EDB5-3FAF-4991-95E4-5D69B559F629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22BB67-9EA9-43B1-8A2F-47B17EB52DC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这份课件不是任务书复述，而是在下发任务书之前帮助大家先建立一张地图。今天重点看清三件事：在哪里操作，连接到哪里，以及 Python 环境到底运行在什么层级里。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/>
          <p:cNvGrpSpPr/>
          <p:nvPr userDrawn="1"/>
        </p:nvGrpSpPr>
        <p:grpSpPr>
          <a:xfrm>
            <a:off x="0" y="0"/>
            <a:ext cx="12192000" cy="8297545"/>
            <a:chOff x="0" y="0"/>
            <a:chExt cx="19200" cy="13067"/>
          </a:xfrm>
        </p:grpSpPr>
        <p:sp>
          <p:nvSpPr>
            <p:cNvPr id="18" name="椭圆 17"/>
            <p:cNvSpPr/>
            <p:nvPr/>
          </p:nvSpPr>
          <p:spPr>
            <a:xfrm>
              <a:off x="1663" y="2707"/>
              <a:ext cx="15815" cy="10361"/>
            </a:xfrm>
            <a:prstGeom prst="ellipse">
              <a:avLst/>
            </a:prstGeom>
            <a:noFill/>
            <a:ln w="508000">
              <a:solidFill>
                <a:srgbClr val="3333B3">
                  <a:alpha val="20000"/>
                </a:srgbClr>
              </a:solidFill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0" y="0"/>
              <a:ext cx="19201" cy="10786"/>
            </a:xfrm>
            <a:prstGeom prst="rect">
              <a:avLst/>
            </a:prstGeom>
            <a:gradFill>
              <a:gsLst>
                <a:gs pos="0">
                  <a:schemeClr val="bg1">
                    <a:alpha val="20000"/>
                  </a:schemeClr>
                </a:gs>
                <a:gs pos="79000">
                  <a:schemeClr val="bg1"/>
                </a:gs>
              </a:gsLst>
            </a:gradFill>
            <a:ln>
              <a:noFill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5" name="圆角矩形 47"/>
          <p:cNvSpPr/>
          <p:nvPr userDrawn="1"/>
        </p:nvSpPr>
        <p:spPr>
          <a:xfrm>
            <a:off x="4025583" y="4058920"/>
            <a:ext cx="4140200" cy="495300"/>
          </a:xfrm>
          <a:prstGeom prst="roundRect">
            <a:avLst>
              <a:gd name="adj" fmla="val 50000"/>
            </a:avLst>
          </a:prstGeom>
          <a:noFill/>
          <a:ln w="25400"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内容占位符 29"/>
          <p:cNvSpPr>
            <a:spLocks noGrp="1"/>
          </p:cNvSpPr>
          <p:nvPr>
            <p:ph sz="quarter" idx="10" hasCustomPrompt="1"/>
          </p:nvPr>
        </p:nvSpPr>
        <p:spPr>
          <a:xfrm>
            <a:off x="0" y="1361352"/>
            <a:ext cx="12192000" cy="1477329"/>
          </a:xfrm>
        </p:spPr>
        <p:txBody>
          <a:bodyPr>
            <a:noAutofit/>
          </a:bodyPr>
          <a:lstStyle>
            <a:lvl1pPr marL="0" indent="0" algn="ctr" defTabSz="914400" rtl="0" eaLnBrk="1" latinLnBrk="0" hangingPunct="1">
              <a:buNone/>
              <a:defRPr lang="zh-CN" altLang="en-US" sz="5400" b="1" kern="1200" dirty="0" smtClean="0">
                <a:gradFill>
                  <a:gsLst>
                    <a:gs pos="50000">
                      <a:srgbClr val="3757D1"/>
                    </a:gs>
                    <a:gs pos="0">
                      <a:srgbClr val="2D2F99"/>
                    </a:gs>
                    <a:gs pos="100000">
                      <a:srgbClr val="8774DA"/>
                    </a:gs>
                  </a:gsLst>
                  <a:lin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0" indent="0" algn="ctr" defTabSz="914400" rtl="0" eaLnBrk="1" latinLnBrk="0" hangingPunct="1">
              <a:buNone/>
              <a:defRPr lang="zh-CN" altLang="en-US" sz="5400" b="1" kern="1200" dirty="0" smtClean="0">
                <a:gradFill>
                  <a:gsLst>
                    <a:gs pos="50000">
                      <a:srgbClr val="3757D1"/>
                    </a:gs>
                    <a:gs pos="0">
                      <a:srgbClr val="2D2F99"/>
                    </a:gs>
                    <a:gs pos="100000">
                      <a:srgbClr val="8774DA"/>
                    </a:gs>
                  </a:gsLst>
                  <a:lin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0" algn="ctr" defTabSz="914400" rtl="0" eaLnBrk="1" latinLnBrk="0" hangingPunct="1">
              <a:defRPr lang="zh-CN" altLang="en-US" sz="5400" b="1" kern="1200" dirty="0" smtClean="0">
                <a:gradFill>
                  <a:gsLst>
                    <a:gs pos="50000">
                      <a:srgbClr val="3757D1"/>
                    </a:gs>
                    <a:gs pos="0">
                      <a:srgbClr val="2D2F99"/>
                    </a:gs>
                    <a:gs pos="100000">
                      <a:srgbClr val="8774DA"/>
                    </a:gs>
                  </a:gsLst>
                  <a:lin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0" algn="ctr" defTabSz="914400" rtl="0" eaLnBrk="1" latinLnBrk="0" hangingPunct="1">
              <a:defRPr lang="zh-CN" altLang="en-US" sz="5400" b="1" kern="1200" dirty="0" smtClean="0">
                <a:gradFill>
                  <a:gsLst>
                    <a:gs pos="50000">
                      <a:srgbClr val="3757D1"/>
                    </a:gs>
                    <a:gs pos="0">
                      <a:srgbClr val="2D2F99"/>
                    </a:gs>
                    <a:gs pos="100000">
                      <a:srgbClr val="8774DA"/>
                    </a:gs>
                  </a:gsLst>
                  <a:lin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0" algn="ctr" defTabSz="914400" rtl="0" eaLnBrk="1" latinLnBrk="0" hangingPunct="1">
              <a:defRPr lang="zh-CN" altLang="en-US" sz="5400" b="1" kern="1200" dirty="0">
                <a:gradFill>
                  <a:gsLst>
                    <a:gs pos="50000">
                      <a:srgbClr val="3757D1"/>
                    </a:gs>
                    <a:gs pos="0">
                      <a:srgbClr val="2D2F99"/>
                    </a:gs>
                    <a:gs pos="100000">
                      <a:srgbClr val="8774DA"/>
                    </a:gs>
                  </a:gsLst>
                  <a:lin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4" name="内容占位符 29"/>
          <p:cNvSpPr>
            <a:spLocks noGrp="1"/>
          </p:cNvSpPr>
          <p:nvPr>
            <p:ph sz="quarter" idx="11" hasCustomPrompt="1"/>
          </p:nvPr>
        </p:nvSpPr>
        <p:spPr>
          <a:xfrm>
            <a:off x="0" y="3239986"/>
            <a:ext cx="12192000" cy="1938528"/>
          </a:xfr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125000"/>
              </a:lnSpc>
              <a:spcBef>
                <a:spcPts val="0"/>
              </a:spcBef>
              <a:buNone/>
              <a:defRPr lang="zh-CN" altLang="en-US" sz="2800" kern="1200" dirty="0" smtClean="0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0" indent="0" algn="ctr" defTabSz="914400" rtl="0" eaLnBrk="1" latinLnBrk="0" hangingPunct="1">
              <a:buNone/>
              <a:defRPr lang="zh-CN" altLang="en-US" sz="5400" b="1" kern="1200" dirty="0" smtClean="0">
                <a:gradFill>
                  <a:gsLst>
                    <a:gs pos="50000">
                      <a:srgbClr val="3757D1"/>
                    </a:gs>
                    <a:gs pos="0">
                      <a:srgbClr val="2D2F99"/>
                    </a:gs>
                    <a:gs pos="100000">
                      <a:srgbClr val="8774DA"/>
                    </a:gs>
                  </a:gsLst>
                  <a:lin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0" algn="ctr" defTabSz="914400" rtl="0" eaLnBrk="1" latinLnBrk="0" hangingPunct="1">
              <a:defRPr lang="zh-CN" altLang="en-US" sz="5400" b="1" kern="1200" dirty="0" smtClean="0">
                <a:gradFill>
                  <a:gsLst>
                    <a:gs pos="50000">
                      <a:srgbClr val="3757D1"/>
                    </a:gs>
                    <a:gs pos="0">
                      <a:srgbClr val="2D2F99"/>
                    </a:gs>
                    <a:gs pos="100000">
                      <a:srgbClr val="8774DA"/>
                    </a:gs>
                  </a:gsLst>
                  <a:lin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0" algn="ctr" defTabSz="914400" rtl="0" eaLnBrk="1" latinLnBrk="0" hangingPunct="1">
              <a:defRPr lang="zh-CN" altLang="en-US" sz="5400" b="1" kern="1200" dirty="0" smtClean="0">
                <a:gradFill>
                  <a:gsLst>
                    <a:gs pos="50000">
                      <a:srgbClr val="3757D1"/>
                    </a:gs>
                    <a:gs pos="0">
                      <a:srgbClr val="2D2F99"/>
                    </a:gs>
                    <a:gs pos="100000">
                      <a:srgbClr val="8774DA"/>
                    </a:gs>
                  </a:gsLst>
                  <a:lin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0" algn="ctr" defTabSz="914400" rtl="0" eaLnBrk="1" latinLnBrk="0" hangingPunct="1">
              <a:defRPr lang="zh-CN" altLang="en-US" sz="5400" b="1" kern="1200" dirty="0">
                <a:gradFill>
                  <a:gsLst>
                    <a:gs pos="50000">
                      <a:srgbClr val="3757D1"/>
                    </a:gs>
                    <a:gs pos="0">
                      <a:srgbClr val="2D2F99"/>
                    </a:gs>
                    <a:gs pos="100000">
                      <a:srgbClr val="8774DA"/>
                    </a:gs>
                  </a:gsLst>
                  <a:lin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grpSp>
        <p:nvGrpSpPr>
          <p:cNvPr id="59" name="组合 58"/>
          <p:cNvGrpSpPr/>
          <p:nvPr userDrawn="1"/>
        </p:nvGrpSpPr>
        <p:grpSpPr>
          <a:xfrm>
            <a:off x="1473016" y="5323909"/>
            <a:ext cx="8432747" cy="1049602"/>
            <a:chOff x="1473016" y="5323909"/>
            <a:chExt cx="8432747" cy="1049602"/>
          </a:xfrm>
        </p:grpSpPr>
        <p:pic>
          <p:nvPicPr>
            <p:cNvPr id="55" name="图片 54" descr="电脑屏幕的照片上有字&#10;&#10;低可信度描述已自动生成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73016" y="5323909"/>
              <a:ext cx="4613634" cy="1049602"/>
            </a:xfrm>
            <a:prstGeom prst="rect">
              <a:avLst/>
            </a:prstGeom>
            <a:ln>
              <a:noFill/>
            </a:ln>
          </p:spPr>
        </p:pic>
        <p:pic>
          <p:nvPicPr>
            <p:cNvPr id="56" name="图片 55" descr="图标&#10;&#10;描述已自动生成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97909" y="5529531"/>
              <a:ext cx="2109950" cy="843980"/>
            </a:xfrm>
            <a:prstGeom prst="rect">
              <a:avLst/>
            </a:prstGeom>
          </p:spPr>
        </p:pic>
        <p:pic>
          <p:nvPicPr>
            <p:cNvPr id="57" name="图片 56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7492656" y="5529532"/>
              <a:ext cx="2413107" cy="739366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3858" y="195580"/>
            <a:ext cx="8300195" cy="688340"/>
          </a:xfrm>
        </p:spPr>
        <p:txBody>
          <a:bodyPr>
            <a:noAutofit/>
          </a:bodyPr>
          <a:lstStyle>
            <a:lvl1pPr>
              <a:defRPr lang="zh-CN" altLang="en-US" sz="4000" b="1" kern="1200" dirty="0">
                <a:solidFill>
                  <a:srgbClr val="3333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1A551-C905-9F41-8115-736F871A9EFB}" type="datetime1">
              <a:rPr lang="zh-CN" altLang="en-US" smtClean="0"/>
              <a:t>2026/6/25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168BB-329B-4EC0-BBCE-DC6BA5995A4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矩形 13"/>
          <p:cNvSpPr/>
          <p:nvPr userDrawn="1"/>
        </p:nvSpPr>
        <p:spPr>
          <a:xfrm>
            <a:off x="-9524" y="195580"/>
            <a:ext cx="198552" cy="688340"/>
          </a:xfrm>
          <a:prstGeom prst="rect">
            <a:avLst/>
          </a:prstGeom>
          <a:solidFill>
            <a:srgbClr val="3333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内容占位符 2"/>
          <p:cNvSpPr>
            <a:spLocks noGrp="1"/>
          </p:cNvSpPr>
          <p:nvPr>
            <p:ph idx="13" hasCustomPrompt="1"/>
          </p:nvPr>
        </p:nvSpPr>
        <p:spPr>
          <a:xfrm>
            <a:off x="403858" y="1047664"/>
            <a:ext cx="11599114" cy="5294470"/>
          </a:xfrm>
        </p:spPr>
        <p:txBody>
          <a:bodyPr>
            <a:normAutofit/>
          </a:bodyPr>
          <a:lstStyle>
            <a:lvl1pPr>
              <a:buClr>
                <a:srgbClr val="3333B3"/>
              </a:buCl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Clr>
                <a:srgbClr val="3333B3"/>
              </a:buCl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buClr>
                <a:srgbClr val="3333B3"/>
              </a:buClr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Clr>
                <a:srgbClr val="3333B3"/>
              </a:buCl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buClr>
                <a:srgbClr val="3333B3"/>
              </a:buCl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grpSp>
        <p:nvGrpSpPr>
          <p:cNvPr id="22" name="组合 21"/>
          <p:cNvGrpSpPr/>
          <p:nvPr userDrawn="1"/>
        </p:nvGrpSpPr>
        <p:grpSpPr>
          <a:xfrm>
            <a:off x="8186930" y="291580"/>
            <a:ext cx="3816042" cy="498684"/>
            <a:chOff x="1873966" y="5323909"/>
            <a:chExt cx="8031797" cy="1049602"/>
          </a:xfrm>
        </p:grpSpPr>
        <p:pic>
          <p:nvPicPr>
            <p:cNvPr id="23" name="图片 22" descr="电脑屏幕的照片上有字&#10;&#10;低可信度描述已自动生成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73966" y="5323909"/>
              <a:ext cx="4613636" cy="1049602"/>
            </a:xfrm>
            <a:prstGeom prst="rect">
              <a:avLst/>
            </a:prstGeom>
            <a:ln>
              <a:noFill/>
            </a:ln>
          </p:spPr>
        </p:pic>
        <p:pic>
          <p:nvPicPr>
            <p:cNvPr id="24" name="图片 23" descr="图标&#10;&#10;描述已自动生成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65211" y="5529532"/>
              <a:ext cx="2109950" cy="843979"/>
            </a:xfrm>
            <a:prstGeom prst="rect">
              <a:avLst/>
            </a:prstGeom>
          </p:spPr>
        </p:pic>
        <p:pic>
          <p:nvPicPr>
            <p:cNvPr id="25" name="图片 24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7492656" y="5529532"/>
              <a:ext cx="2413107" cy="739366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2F118-535C-4743-B44C-A76C12B713C8}" type="datetime1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168BB-329B-4EC0-BBCE-DC6BA5995A4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0" y="64897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altLang="zh-CN" sz="1400" kern="1200" smtClean="0">
                <a:solidFill>
                  <a:srgbClr val="5E90ED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1pPr>
          </a:lstStyle>
          <a:p>
            <a:fld id="{649C70C6-D2E4-A74B-97EC-794182F30792}" type="datetime1">
              <a:rPr lang="zh-CN" altLang="en-US" smtClean="0"/>
              <a:t>2026/6/25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48969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448800" y="648969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altLang="en-US" sz="1400" kern="1200" smtClean="0">
                <a:solidFill>
                  <a:schemeClr val="accent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1pPr>
          </a:lstStyle>
          <a:p>
            <a:fld id="{E1D168BB-329B-4EC0-BBCE-DC6BA5995A49}" type="slidenum">
              <a:rPr lang="en-US" altLang="zh-CN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pypi.tuna.tsinghua.edu.cn/simple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pypi.tuna.tsinghua.edu.cn/simple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llamafactory.readthedocs.io/zh-cn/latest/advanced/arguments.html#lora&#65307;LoRA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B51D7E20-FCA3-4D32-ADA4-E7B3756A22C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0" y="1268903"/>
            <a:ext cx="12192000" cy="1884606"/>
          </a:xfrm>
        </p:spPr>
        <p:txBody>
          <a:bodyPr/>
          <a:lstStyle/>
          <a:p>
            <a:r>
              <a:rPr lang="zh-CN" altLang="en-US" sz="3600" dirty="0"/>
              <a:t>人工智能实训预备课</a:t>
            </a:r>
            <a:br>
              <a:rPr lang="en-US" altLang="zh-CN" sz="4400" dirty="0"/>
            </a:br>
            <a:r>
              <a:rPr lang="en-US" altLang="zh-CN" dirty="0"/>
              <a:t>A</a:t>
            </a:r>
            <a:r>
              <a:rPr lang="zh-CN" altLang="en-US" dirty="0"/>
              <a:t>方向：大模型微调与推理增强</a:t>
            </a:r>
            <a:endParaRPr lang="zh-CN" altLang="en-US" sz="44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DA17C82-2284-4F27-B11F-29E24FE1D1B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0" y="3239986"/>
            <a:ext cx="12192000" cy="1724737"/>
          </a:xfrm>
        </p:spPr>
        <p:txBody>
          <a:bodyPr/>
          <a:lstStyle/>
          <a:p>
            <a:pPr lvl="0">
              <a:lnSpc>
                <a:spcPct val="125000"/>
              </a:lnSpc>
              <a:spcBef>
                <a:spcPts val="0"/>
              </a:spcBef>
            </a:pPr>
            <a:r>
              <a:rPr lang="zh-CN" altLang="en-US" sz="3000" b="1" dirty="0">
                <a:solidFill>
                  <a:srgbClr val="18478F"/>
                </a:solidFill>
                <a:cs typeface="+mn-cs"/>
              </a:rPr>
              <a:t>小牛翻译</a:t>
            </a:r>
            <a:endParaRPr lang="en-US" altLang="zh-CN" sz="3000" b="1" dirty="0">
              <a:solidFill>
                <a:srgbClr val="18478F"/>
              </a:solidFill>
              <a:cs typeface="+mn-cs"/>
            </a:endParaRPr>
          </a:p>
          <a:p>
            <a:pPr lvl="0">
              <a:lnSpc>
                <a:spcPct val="125000"/>
              </a:lnSpc>
              <a:spcBef>
                <a:spcPts val="0"/>
              </a:spcBef>
            </a:pPr>
            <a:r>
              <a:rPr lang="zh-CN" altLang="en-US" sz="3000" b="1" dirty="0">
                <a:solidFill>
                  <a:srgbClr val="18478F"/>
                </a:solidFill>
                <a:cs typeface="+mn-cs"/>
              </a:rPr>
              <a:t>东北大学自然语言处理实验室</a:t>
            </a:r>
            <a:endParaRPr lang="en-US" altLang="zh-CN" sz="2800" dirty="0">
              <a:solidFill>
                <a:srgbClr val="18478F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  <a:p>
            <a:pPr lvl="0">
              <a:lnSpc>
                <a:spcPct val="125000"/>
              </a:lnSpc>
              <a:spcBef>
                <a:spcPts val="0"/>
              </a:spcBef>
            </a:pPr>
            <a:r>
              <a:rPr lang="en-US" altLang="zh-CN" sz="1800" dirty="0">
                <a:solidFill>
                  <a:srgbClr val="18478F"/>
                </a:solidFill>
                <a:cs typeface="+mn-cs"/>
              </a:rPr>
              <a:t>2026</a:t>
            </a:r>
            <a:r>
              <a:rPr lang="zh-CN" altLang="en-US" sz="1800" dirty="0">
                <a:solidFill>
                  <a:srgbClr val="18478F"/>
                </a:solidFill>
                <a:cs typeface="+mn-cs"/>
              </a:rPr>
              <a:t>年夏</a:t>
            </a:r>
            <a:endParaRPr lang="en-US" altLang="zh-CN" sz="1800" dirty="0">
              <a:solidFill>
                <a:srgbClr val="18478F"/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8670938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总体要求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3"/>
          </p:nvPr>
        </p:nvSpPr>
        <p:spPr>
          <a:xfrm>
            <a:off x="403858" y="1047664"/>
            <a:ext cx="11433100" cy="5442035"/>
          </a:xfrm>
        </p:spPr>
        <p:txBody>
          <a:bodyPr>
            <a:normAutofit lnSpcReduction="10000"/>
          </a:bodyPr>
          <a:lstStyle/>
          <a:p>
            <a:pPr marL="685800" indent="-457200" algn="l" fontAlgn="auto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每位同学必须认领至少一个核心模块，可以两位同学共同负责一个模块；</a:t>
            </a:r>
            <a:endParaRPr lang="zh-CN" altLang="en-US" sz="240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685800" indent="-457200" algn="l" fontAlgn="auto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每个核心模块必须能够独立运行、独立演示、独立讲解；</a:t>
            </a:r>
            <a:endParaRPr lang="zh-CN" altLang="en-US" sz="240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685800" indent="-457200" algn="l" fontAlgn="auto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每组必须由 4–5 名同学组成，并形成一个完整系统；</a:t>
            </a:r>
            <a:endParaRPr lang="zh-CN" altLang="en-US" sz="240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685800" indent="-457200" algn="l" fontAlgn="auto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组内模块之间必须存在明确的接口关系和协作关系；</a:t>
            </a:r>
            <a:endParaRPr lang="zh-CN" altLang="en-US" sz="240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685800" indent="-457200" algn="l" fontAlgn="auto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最终验收时既看小组系统，也严格检查个人模块；</a:t>
            </a:r>
            <a:endParaRPr lang="zh-CN" altLang="en-US" sz="240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685800" indent="-457200" algn="l" fontAlgn="auto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推荐学生在候选方向下选择模块，但也可以在不偏离大方向的前提下提出自定义模块；</a:t>
            </a:r>
            <a:endParaRPr lang="zh-CN" altLang="en-US" sz="240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685800" indent="-457200" algn="l" fontAlgn="auto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评测、错误分析、训练前后对比、运行日志等属于全组公共要求，不建议单独作为个人核心模块。</a:t>
            </a:r>
            <a:endParaRPr lang="en-US" altLang="zh-CN" sz="2000" b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168BB-329B-4EC0-BBCE-DC6BA5995A49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个人模块要求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3"/>
          </p:nvPr>
        </p:nvSpPr>
        <p:spPr>
          <a:xfrm>
            <a:off x="403858" y="1047664"/>
            <a:ext cx="11433100" cy="5442035"/>
          </a:xfrm>
        </p:spPr>
        <p:txBody>
          <a:bodyPr>
            <a:normAutofit fontScale="97500"/>
          </a:bodyPr>
          <a:lstStyle/>
          <a:p>
            <a:pPr>
              <a:lnSpc>
                <a:spcPct val="100000"/>
              </a:lnSpc>
            </a:pPr>
            <a:r>
              <a:rPr lang="zh-CN" sz="2400" b="1" dirty="0">
                <a:sym typeface="+mn-ea"/>
              </a:rPr>
              <a:t>独立输入输出：</a:t>
            </a:r>
            <a:r>
              <a:rPr lang="zh-CN" sz="2400" dirty="0">
                <a:cs typeface="微软雅黑" panose="020B0503020204020204" pitchFamily="34" charset="-122"/>
                <a:sym typeface="+mn-ea"/>
              </a:rPr>
              <a:t>必须明确模块输入和输出。例如输入</a:t>
            </a:r>
            <a:r>
              <a:rPr lang="zh-CN" altLang="en-US" sz="2400" dirty="0"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sz="2400" dirty="0">
                <a:cs typeface="微软雅黑" panose="020B0503020204020204" pitchFamily="34" charset="-122"/>
                <a:sym typeface="+mn-ea"/>
              </a:rPr>
              <a:t>prompt</a:t>
            </a:r>
            <a:r>
              <a:rPr lang="zh-CN" altLang="en-US" sz="2400" dirty="0">
                <a:cs typeface="微软雅黑" panose="020B0503020204020204" pitchFamily="34" charset="-122"/>
                <a:sym typeface="+mn-ea"/>
              </a:rPr>
              <a:t>，输出模型回答；输入音频，输出识别文本；输入任务描述，输出 </a:t>
            </a:r>
            <a:r>
              <a:rPr lang="en-US" altLang="zh-CN" sz="2400" dirty="0">
                <a:cs typeface="微软雅黑" panose="020B0503020204020204" pitchFamily="34" charset="-122"/>
                <a:sym typeface="+mn-ea"/>
              </a:rPr>
              <a:t>Agent </a:t>
            </a:r>
            <a:r>
              <a:rPr lang="zh-CN" sz="2400" dirty="0">
                <a:cs typeface="微软雅黑" panose="020B0503020204020204" pitchFamily="34" charset="-122"/>
                <a:sym typeface="+mn-ea"/>
              </a:rPr>
              <a:t>调用轨迹。</a:t>
            </a:r>
            <a:endParaRPr lang="en-US" altLang="zh-CN" sz="2400" dirty="0"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100000"/>
              </a:lnSpc>
            </a:pPr>
            <a:r>
              <a:rPr lang="zh-CN" altLang="en-US" sz="2400" b="1" dirty="0">
                <a:sym typeface="+mn-ea"/>
              </a:rPr>
              <a:t>独立运行：</a:t>
            </a:r>
            <a:r>
              <a:rPr lang="zh-CN" altLang="zh-CN" sz="2400" dirty="0">
                <a:cs typeface="微软雅黑" panose="020B0503020204020204" pitchFamily="34" charset="-122"/>
                <a:sym typeface="+mn-ea"/>
              </a:rPr>
              <a:t>必须有自己的运行入口，例如脚本、</a:t>
            </a:r>
            <a:r>
              <a:rPr lang="en-US" altLang="zh-CN" sz="2400" dirty="0">
                <a:cs typeface="微软雅黑" panose="020B0503020204020204" pitchFamily="34" charset="-122"/>
                <a:sym typeface="+mn-ea"/>
              </a:rPr>
              <a:t>Notebook</a:t>
            </a:r>
            <a:r>
              <a:rPr lang="zh-CN" altLang="en-US" sz="2400" dirty="0"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sz="2400" dirty="0">
                <a:cs typeface="微软雅黑" panose="020B0503020204020204" pitchFamily="34" charset="-122"/>
                <a:sym typeface="+mn-ea"/>
              </a:rPr>
              <a:t>CLI </a:t>
            </a:r>
            <a:r>
              <a:rPr lang="zh-CN" altLang="zh-CN" sz="2400" dirty="0">
                <a:cs typeface="微软雅黑" panose="020B0503020204020204" pitchFamily="34" charset="-122"/>
                <a:sym typeface="+mn-ea"/>
              </a:rPr>
              <a:t>命令或</a:t>
            </a:r>
            <a:r>
              <a:rPr lang="zh-CN" altLang="en-US" sz="2400" dirty="0"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sz="2400" dirty="0">
                <a:cs typeface="微软雅黑" panose="020B0503020204020204" pitchFamily="34" charset="-122"/>
                <a:sym typeface="+mn-ea"/>
              </a:rPr>
              <a:t>Web Demo</a:t>
            </a:r>
            <a:r>
              <a:rPr lang="zh-CN" altLang="en-US" sz="2400" dirty="0">
                <a:cs typeface="微软雅黑" panose="020B0503020204020204" pitchFamily="34" charset="-122"/>
                <a:sym typeface="+mn-ea"/>
              </a:rPr>
              <a:t>。不能只能依赖组内大系统才能展示。</a:t>
            </a:r>
            <a:endParaRPr lang="en-US" altLang="zh-CN" sz="2400" b="1" dirty="0"/>
          </a:p>
          <a:p>
            <a:pPr>
              <a:lnSpc>
                <a:spcPct val="100000"/>
              </a:lnSpc>
            </a:pPr>
            <a:r>
              <a:rPr lang="zh-CN" sz="2400" b="1" dirty="0">
                <a:sym typeface="+mn-ea"/>
              </a:rPr>
              <a:t>独立演示：</a:t>
            </a:r>
            <a:r>
              <a:rPr lang="zh-CN" sz="2400" dirty="0">
                <a:cs typeface="微软雅黑" panose="020B0503020204020204" pitchFamily="34" charset="-122"/>
                <a:sym typeface="+mn-ea"/>
              </a:rPr>
              <a:t>验收时该同学必须亲自运行、讲解、展示模块结果</a:t>
            </a:r>
            <a:r>
              <a:rPr lang="en-US" altLang="zh-CN" sz="2400" dirty="0">
                <a:cs typeface="微软雅黑" panose="020B0503020204020204" pitchFamily="34" charset="-122"/>
                <a:sym typeface="+mn-ea"/>
              </a:rPr>
              <a:t>,</a:t>
            </a:r>
            <a:r>
              <a:rPr lang="zh-CN" sz="2400" dirty="0">
                <a:cs typeface="微软雅黑" panose="020B0503020204020204" pitchFamily="34" charset="-122"/>
                <a:sym typeface="+mn-ea"/>
              </a:rPr>
              <a:t>必须使用</a:t>
            </a:r>
            <a:r>
              <a:rPr lang="en-US" altLang="zh-CN" sz="2400" dirty="0">
                <a:cs typeface="微软雅黑" panose="020B0503020204020204" pitchFamily="34" charset="-122"/>
                <a:sym typeface="+mn-ea"/>
              </a:rPr>
              <a:t>vibe coding</a:t>
            </a:r>
            <a:r>
              <a:rPr lang="zh-CN" sz="2400" dirty="0">
                <a:cs typeface="微软雅黑" panose="020B0503020204020204" pitchFamily="34" charset="-122"/>
                <a:sym typeface="+mn-ea"/>
              </a:rPr>
              <a:t>制作演示系统。</a:t>
            </a:r>
            <a:endParaRPr lang="en-US" altLang="zh-CN" sz="2400" b="1" dirty="0"/>
          </a:p>
          <a:p>
            <a:pPr>
              <a:lnSpc>
                <a:spcPct val="100000"/>
              </a:lnSpc>
            </a:pPr>
            <a:r>
              <a:rPr lang="zh-CN" altLang="en-US" sz="2400" b="1" dirty="0">
                <a:sym typeface="+mn-ea"/>
              </a:rPr>
              <a:t>独立</a:t>
            </a:r>
            <a:r>
              <a:rPr lang="zh-CN" sz="2400" b="1" dirty="0">
                <a:sym typeface="+mn-ea"/>
              </a:rPr>
              <a:t>代码</a:t>
            </a:r>
            <a:r>
              <a:rPr lang="zh-CN" altLang="en-US" sz="2400" b="1" dirty="0">
                <a:sym typeface="+mn-ea"/>
              </a:rPr>
              <a:t>验收</a:t>
            </a:r>
            <a:r>
              <a:rPr lang="zh-CN" sz="2400" b="1" dirty="0">
                <a:sym typeface="+mn-ea"/>
              </a:rPr>
              <a:t>：</a:t>
            </a:r>
            <a:r>
              <a:rPr lang="zh-CN" sz="2400" dirty="0">
                <a:cs typeface="微软雅黑" panose="020B0503020204020204" pitchFamily="34" charset="-122"/>
                <a:sym typeface="+mn-ea"/>
              </a:rPr>
              <a:t>需要有个人负责部分的代码、</a:t>
            </a:r>
            <a:r>
              <a:rPr lang="en-US" altLang="zh-CN" sz="2400" dirty="0">
                <a:cs typeface="微软雅黑" panose="020B0503020204020204" pitchFamily="34" charset="-122"/>
                <a:sym typeface="+mn-ea"/>
              </a:rPr>
              <a:t>README</a:t>
            </a:r>
            <a:r>
              <a:rPr lang="zh-CN" altLang="en-US" sz="2400" dirty="0">
                <a:cs typeface="微软雅黑" panose="020B0503020204020204" pitchFamily="34" charset="-122"/>
                <a:sym typeface="+mn-ea"/>
              </a:rPr>
              <a:t>、配置文件、运行日志、截图或视频。</a:t>
            </a:r>
          </a:p>
          <a:p>
            <a:pPr>
              <a:lnSpc>
                <a:spcPct val="100000"/>
              </a:lnSpc>
            </a:pPr>
            <a:r>
              <a:rPr lang="zh-CN" sz="2400" b="1" dirty="0">
                <a:sym typeface="+mn-ea"/>
              </a:rPr>
              <a:t>可</a:t>
            </a:r>
            <a:r>
              <a:rPr lang="zh-CN" altLang="en-US" sz="2400" b="1" dirty="0">
                <a:sym typeface="+mn-ea"/>
              </a:rPr>
              <a:t>集成</a:t>
            </a:r>
            <a:r>
              <a:rPr 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sz="2400" dirty="0">
                <a:cs typeface="微软雅黑" panose="020B0503020204020204" pitchFamily="34" charset="-122"/>
                <a:sym typeface="+mn-ea"/>
              </a:rPr>
              <a:t>必须提供接口给组内其他模块调用，例如函数、</a:t>
            </a:r>
            <a:r>
              <a:rPr lang="en-US" altLang="zh-CN" sz="2400" dirty="0">
                <a:cs typeface="微软雅黑" panose="020B0503020204020204" pitchFamily="34" charset="-122"/>
                <a:sym typeface="+mn-ea"/>
              </a:rPr>
              <a:t>API</a:t>
            </a:r>
            <a:r>
              <a:rPr lang="zh-CN" altLang="en-US" sz="2400" dirty="0"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sz="2400" dirty="0">
                <a:cs typeface="微软雅黑" panose="020B0503020204020204" pitchFamily="34" charset="-122"/>
                <a:sym typeface="+mn-ea"/>
              </a:rPr>
              <a:t>JSON </a:t>
            </a:r>
            <a:r>
              <a:rPr lang="zh-CN" sz="2400" dirty="0">
                <a:cs typeface="微软雅黑" panose="020B0503020204020204" pitchFamily="34" charset="-122"/>
                <a:sym typeface="+mn-ea"/>
              </a:rPr>
              <a:t>输入输出、命令行或中间文件格式。</a:t>
            </a:r>
            <a:endParaRPr 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sz="2400" b="1" dirty="0">
                <a:sym typeface="+mn-ea"/>
              </a:rPr>
              <a:t>有实验或对比：</a:t>
            </a:r>
            <a:r>
              <a:rPr lang="zh-CN" altLang="en-US" sz="2400" dirty="0">
                <a:cs typeface="微软雅黑" panose="020B0503020204020204" pitchFamily="34" charset="-122"/>
                <a:sym typeface="+mn-ea"/>
              </a:rPr>
              <a:t>至少需要有 </a:t>
            </a:r>
            <a:r>
              <a:rPr lang="en-US" altLang="zh-CN" sz="2400" dirty="0">
                <a:cs typeface="微软雅黑" panose="020B0503020204020204" pitchFamily="34" charset="-122"/>
                <a:sym typeface="+mn-ea"/>
              </a:rPr>
              <a:t>baseline</a:t>
            </a:r>
            <a:r>
              <a:rPr lang="zh-CN" altLang="en-US" sz="2400" dirty="0">
                <a:cs typeface="微软雅黑" panose="020B0503020204020204" pitchFamily="34" charset="-122"/>
                <a:sym typeface="+mn-ea"/>
              </a:rPr>
              <a:t>、训练前后对比、不同参数对比、错误分析或案例分析。</a:t>
            </a:r>
            <a:endParaRPr lang="en-US" altLang="zh-CN" sz="2000" b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168BB-329B-4EC0-BBCE-DC6BA5995A49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34AE8-E0B6-A571-54FD-57CF9D5C1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55DA3B-32B1-D545-705F-350E618BD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r>
              <a:rPr lang="zh-CN" altLang="en-US" dirty="0"/>
              <a:t>：</a:t>
            </a:r>
            <a:r>
              <a:rPr lang="zh-CN" altLang="en-US" dirty="0">
                <a:sym typeface="+mn-ea"/>
              </a:rPr>
              <a:t>大模型微调与推理增强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B3CA30-D8FC-6D81-B711-59EEF5B34E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03858" y="1220385"/>
            <a:ext cx="11433100" cy="5442035"/>
          </a:xfrm>
        </p:spPr>
        <p:txBody>
          <a:bodyPr>
            <a:normAutofit fontScale="975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ym typeface="+mn-ea"/>
              </a:rPr>
              <a:t>本次实践主题围绕</a:t>
            </a:r>
            <a:r>
              <a:rPr lang="zh-CN" altLang="en-US" sz="2400" b="1" dirty="0">
                <a:sym typeface="+mn-ea"/>
              </a:rPr>
              <a:t>代码生成任务</a:t>
            </a:r>
            <a:r>
              <a:rPr lang="zh-CN" altLang="en-US" sz="2400" dirty="0">
                <a:sym typeface="+mn-ea"/>
              </a:rPr>
              <a:t>，构建完整的大模型优化流程。本实践结合 </a:t>
            </a:r>
            <a:r>
              <a:rPr lang="en-US" altLang="zh-CN" sz="2400" dirty="0" err="1">
                <a:sym typeface="+mn-ea"/>
              </a:rPr>
              <a:t>LLaMA</a:t>
            </a:r>
            <a:r>
              <a:rPr lang="en-US" altLang="zh-CN" sz="2400" dirty="0">
                <a:sym typeface="+mn-ea"/>
              </a:rPr>
              <a:t>-Factory</a:t>
            </a:r>
            <a:r>
              <a:rPr lang="zh-CN" altLang="en-US" sz="2400" dirty="0">
                <a:sym typeface="+mn-ea"/>
              </a:rPr>
              <a:t>、</a:t>
            </a:r>
            <a:r>
              <a:rPr lang="en-US" altLang="zh-CN" sz="2400" dirty="0">
                <a:sym typeface="+mn-ea"/>
              </a:rPr>
              <a:t>TRL </a:t>
            </a:r>
            <a:r>
              <a:rPr lang="zh-CN" altLang="en-US" sz="2400" dirty="0">
                <a:sym typeface="+mn-ea"/>
              </a:rPr>
              <a:t>等工具，完成监督微调、偏好对齐训练到推理阶段增强的完整流程。</a:t>
            </a:r>
            <a:endParaRPr lang="en-US" altLang="zh-CN" sz="2400" dirty="0">
              <a:sym typeface="+mn-ea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ym typeface="+mn-ea"/>
              </a:rPr>
              <a:t>在</a:t>
            </a:r>
            <a:r>
              <a:rPr lang="en-US" altLang="zh-CN" sz="2400" dirty="0">
                <a:sym typeface="+mn-ea"/>
              </a:rPr>
              <a:t>Python</a:t>
            </a:r>
            <a:r>
              <a:rPr lang="zh-CN" altLang="en-US" sz="2400" dirty="0">
                <a:sym typeface="+mn-ea"/>
              </a:rPr>
              <a:t>代码生成任务中，模型需要根据自然语言描述生成正确、可执行的 </a:t>
            </a:r>
            <a:r>
              <a:rPr lang="en-US" altLang="zh-CN" sz="2400" dirty="0">
                <a:sym typeface="+mn-ea"/>
              </a:rPr>
              <a:t>Python </a:t>
            </a:r>
            <a:r>
              <a:rPr lang="zh-CN" altLang="en-US" sz="2400" dirty="0">
                <a:sym typeface="+mn-ea"/>
              </a:rPr>
              <a:t>代码。仅依赖基础模型往往会出现</a:t>
            </a:r>
            <a:r>
              <a:rPr lang="zh-CN" altLang="en-US" sz="2400" b="1" dirty="0">
                <a:sym typeface="+mn-ea"/>
              </a:rPr>
              <a:t>语法错误、逻辑不完整、测试样例无法通过</a:t>
            </a:r>
            <a:r>
              <a:rPr lang="zh-CN" altLang="en-US" sz="2400" dirty="0">
                <a:sym typeface="+mn-ea"/>
              </a:rPr>
              <a:t>等问题。</a:t>
            </a:r>
            <a:endParaRPr lang="en-US" altLang="zh-CN" sz="2400" dirty="0">
              <a:sym typeface="+mn-ea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ym typeface="+mn-ea"/>
              </a:rPr>
              <a:t>因此，本实践通过 </a:t>
            </a:r>
            <a:r>
              <a:rPr lang="en-US" altLang="zh-CN" sz="2400" dirty="0">
                <a:sym typeface="+mn-ea"/>
              </a:rPr>
              <a:t>SFT </a:t>
            </a:r>
            <a:r>
              <a:rPr lang="zh-CN" altLang="en-US" sz="2400" dirty="0">
                <a:sym typeface="+mn-ea"/>
              </a:rPr>
              <a:t>提升模型对代码指令的理解与生成能力，通过 </a:t>
            </a:r>
            <a:r>
              <a:rPr lang="en-US" altLang="zh-CN" sz="2400" dirty="0">
                <a:sym typeface="+mn-ea"/>
              </a:rPr>
              <a:t>DPO </a:t>
            </a:r>
            <a:r>
              <a:rPr lang="zh-CN" altLang="en-US" sz="2400" dirty="0">
                <a:sym typeface="+mn-ea"/>
              </a:rPr>
              <a:t>引导模型偏向更优代码答案，并进一步在推理阶段使用提示策略、采样策略、结果验证或重排序等方法提升最终输出质量。</a:t>
            </a:r>
            <a:endParaRPr lang="en-US" altLang="zh-CN" sz="2000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A4C596B-C435-506F-D41E-08189259A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168BB-329B-4EC0-BBCE-DC6BA5995A4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9063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A85DF-EBF9-30E3-688D-69260636E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14980C-C4D5-5F05-778A-8644F1FA5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r>
              <a:rPr lang="zh-CN" altLang="en-US" dirty="0"/>
              <a:t>：</a:t>
            </a:r>
            <a:r>
              <a:rPr lang="zh-CN" altLang="en-US" dirty="0">
                <a:sym typeface="+mn-ea"/>
              </a:rPr>
              <a:t>大模型微调与推理增强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C6793FD-E550-D1BB-1DF4-0EFF97D56C05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03860" y="1047750"/>
            <a:ext cx="11433175" cy="5583555"/>
          </a:xfrm>
        </p:spPr>
        <p:txBody>
          <a:bodyPr>
            <a:normAutofit fontScale="90000" lnSpcReduction="10000"/>
          </a:bodyPr>
          <a:lstStyle/>
          <a:p>
            <a:pPr>
              <a:lnSpc>
                <a:spcPct val="100000"/>
              </a:lnSpc>
            </a:pPr>
            <a:r>
              <a:rPr lang="en-US" altLang="zh-CN" b="1" spc="200" dirty="0">
                <a:cs typeface="微软雅黑" panose="020B0503020204020204" pitchFamily="34" charset="-122"/>
                <a:sym typeface="+mn-ea"/>
              </a:rPr>
              <a:t>A1:</a:t>
            </a:r>
            <a:r>
              <a:rPr lang="zh-CN" altLang="en-US" b="1" spc="200" dirty="0">
                <a:cs typeface="微软雅黑" panose="020B0503020204020204" pitchFamily="34" charset="-122"/>
                <a:sym typeface="+mn-ea"/>
              </a:rPr>
              <a:t>指令数据构造</a:t>
            </a:r>
            <a:endParaRPr lang="en-US" altLang="zh-CN" b="1" dirty="0">
              <a:cs typeface="微软雅黑" panose="020B0503020204020204" pitchFamily="34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zh-CN" sz="2400" dirty="0">
                <a:cs typeface="微软雅黑" panose="020B0503020204020204" pitchFamily="34" charset="-122"/>
                <a:sym typeface="+mn-ea"/>
              </a:rPr>
              <a:t>该模块</a:t>
            </a:r>
            <a:r>
              <a:rPr lang="zh-CN" altLang="en-US" sz="2400" dirty="0">
                <a:cs typeface="微软雅黑" panose="020B0503020204020204" pitchFamily="34" charset="-122"/>
                <a:sym typeface="+mn-ea"/>
              </a:rPr>
              <a:t>构造可用于 </a:t>
            </a:r>
            <a:r>
              <a:rPr lang="en-US" altLang="zh-CN" sz="2400" dirty="0">
                <a:cs typeface="微软雅黑" panose="020B0503020204020204" pitchFamily="34" charset="-122"/>
                <a:sym typeface="+mn-ea"/>
              </a:rPr>
              <a:t>SFT </a:t>
            </a:r>
            <a:r>
              <a:rPr lang="zh-CN" altLang="en-US" sz="2400" dirty="0">
                <a:cs typeface="微软雅黑" panose="020B0503020204020204" pitchFamily="34" charset="-122"/>
                <a:sym typeface="+mn-ea"/>
              </a:rPr>
              <a:t>的指令数据，是整个指令微调的输入基础。数据质量直接影响后续 </a:t>
            </a:r>
            <a:r>
              <a:rPr lang="en-US" altLang="zh-CN" sz="2400" dirty="0">
                <a:cs typeface="微软雅黑" panose="020B0503020204020204" pitchFamily="34" charset="-122"/>
                <a:sym typeface="+mn-ea"/>
              </a:rPr>
              <a:t>SFT</a:t>
            </a:r>
            <a:r>
              <a:rPr lang="zh-CN" altLang="en-US" sz="2400" dirty="0">
                <a:cs typeface="微软雅黑" panose="020B0503020204020204" pitchFamily="34" charset="-122"/>
                <a:sym typeface="+mn-ea"/>
              </a:rPr>
              <a:t>训练效率和测试准确性。</a:t>
            </a:r>
            <a:endParaRPr lang="en-US" altLang="zh-CN" sz="2400" b="1" dirty="0">
              <a:cs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en-US" altLang="zh-CN" b="1" spc="200" dirty="0">
                <a:cs typeface="微软雅黑" panose="020B0503020204020204" pitchFamily="34" charset="-122"/>
                <a:sym typeface="+mn-ea"/>
              </a:rPr>
              <a:t>A2:</a:t>
            </a:r>
            <a:r>
              <a:rPr lang="en-US" altLang="zh-CN" b="1" dirty="0">
                <a:cs typeface="微软雅黑" panose="020B0503020204020204" pitchFamily="34" charset="-122"/>
              </a:rPr>
              <a:t>SFT</a:t>
            </a:r>
            <a:r>
              <a:rPr lang="zh-CN" altLang="en-US" b="1" dirty="0">
                <a:cs typeface="微软雅黑" panose="020B0503020204020204" pitchFamily="34" charset="-122"/>
              </a:rPr>
              <a:t>微调</a:t>
            </a:r>
            <a:r>
              <a:rPr lang="en-US" altLang="zh-CN" b="1" dirty="0">
                <a:cs typeface="微软雅黑" panose="020B0503020204020204" pitchFamily="34" charset="-122"/>
              </a:rPr>
              <a:t>	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zh-CN" altLang="zh-CN" sz="2400" dirty="0">
                <a:cs typeface="微软雅黑" panose="020B0503020204020204" pitchFamily="34" charset="-122"/>
                <a:sym typeface="+mn-ea"/>
              </a:rPr>
              <a:t>该模块负责使用指令数据对基础大模型进行监督微调，</a:t>
            </a:r>
            <a:r>
              <a:rPr lang="zh-CN" altLang="en-US" sz="2400" dirty="0">
                <a:cs typeface="微软雅黑" panose="020B0503020204020204" pitchFamily="34" charset="-122"/>
                <a:sym typeface="+mn-ea"/>
              </a:rPr>
              <a:t>提高模型在特定领域的性能表现</a:t>
            </a:r>
            <a:r>
              <a:rPr lang="zh-CN" altLang="zh-CN" sz="2400" dirty="0">
                <a:cs typeface="微软雅黑" panose="020B0503020204020204" pitchFamily="34" charset="-122"/>
                <a:sym typeface="+mn-ea"/>
              </a:rPr>
              <a:t>。</a:t>
            </a:r>
            <a:endParaRPr lang="en-US" altLang="zh-CN" sz="2400" b="1" dirty="0">
              <a:cs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en-US" altLang="zh-CN" b="1" spc="200" dirty="0">
                <a:cs typeface="微软雅黑" panose="020B0503020204020204" pitchFamily="34" charset="-122"/>
                <a:sym typeface="+mn-ea"/>
              </a:rPr>
              <a:t>A3:</a:t>
            </a:r>
            <a:r>
              <a:rPr lang="zh-CN" altLang="en-US" b="1" spc="200" dirty="0">
                <a:cs typeface="微软雅黑" panose="020B0503020204020204" pitchFamily="34" charset="-122"/>
                <a:sym typeface="+mn-ea"/>
              </a:rPr>
              <a:t>偏好数据构造</a:t>
            </a:r>
            <a:endParaRPr lang="en-US" altLang="zh-CN" b="1" dirty="0">
              <a:cs typeface="微软雅黑" panose="020B0503020204020204" pitchFamily="34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zh-CN" sz="2400" dirty="0">
                <a:cs typeface="微软雅黑" panose="020B0503020204020204" pitchFamily="34" charset="-122"/>
                <a:sym typeface="+mn-ea"/>
              </a:rPr>
              <a:t>该模块</a:t>
            </a:r>
            <a:r>
              <a:rPr lang="en-US" altLang="zh-CN" sz="2400" dirty="0" err="1">
                <a:cs typeface="微软雅黑" panose="020B0503020204020204" pitchFamily="34" charset="-122"/>
                <a:sym typeface="+mn-ea"/>
              </a:rPr>
              <a:t>负责构造DPO或其他偏好学习算法所需的chosen</a:t>
            </a:r>
            <a:r>
              <a:rPr lang="en-US" altLang="zh-CN" sz="2400" dirty="0">
                <a:cs typeface="微软雅黑" panose="020B0503020204020204" pitchFamily="34" charset="-122"/>
                <a:sym typeface="+mn-ea"/>
              </a:rPr>
              <a:t>/</a:t>
            </a:r>
            <a:r>
              <a:rPr lang="en-US" altLang="zh-CN" sz="2400" dirty="0" err="1">
                <a:cs typeface="微软雅黑" panose="020B0503020204020204" pitchFamily="34" charset="-122"/>
                <a:sym typeface="+mn-ea"/>
              </a:rPr>
              <a:t>rejected数据，是对齐训练的关键输入</a:t>
            </a:r>
            <a:r>
              <a:rPr lang="en-US" altLang="zh-CN" sz="2400" dirty="0">
                <a:cs typeface="微软雅黑" panose="020B0503020204020204" pitchFamily="34" charset="-122"/>
                <a:sym typeface="+mn-ea"/>
              </a:rPr>
              <a:t>。</a:t>
            </a:r>
            <a:endParaRPr lang="en-US" altLang="zh-CN" sz="2400" b="1" dirty="0">
              <a:cs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en-US" altLang="zh-CN" b="1" spc="200" dirty="0">
                <a:cs typeface="微软雅黑" panose="020B0503020204020204" pitchFamily="34" charset="-122"/>
                <a:sym typeface="+mn-ea"/>
              </a:rPr>
              <a:t>A4:DPO</a:t>
            </a:r>
            <a:r>
              <a:rPr lang="zh-CN" altLang="en-US" b="1" spc="200" dirty="0">
                <a:cs typeface="微软雅黑" panose="020B0503020204020204" pitchFamily="34" charset="-122"/>
                <a:sym typeface="+mn-ea"/>
              </a:rPr>
              <a:t>对齐训练</a:t>
            </a:r>
            <a:endParaRPr lang="zh-CN" altLang="en-US" spc="200" dirty="0">
              <a:cs typeface="微软雅黑" panose="020B0503020204020204" pitchFamily="34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zh-CN" sz="2400" dirty="0">
                <a:cs typeface="微软雅黑" panose="020B0503020204020204" pitchFamily="34" charset="-122"/>
                <a:sym typeface="+mn-ea"/>
              </a:rPr>
              <a:t>该模块负责使用偏好数据进行</a:t>
            </a:r>
            <a:r>
              <a:rPr lang="en-US" altLang="zh-CN" sz="2400" dirty="0">
                <a:cs typeface="微软雅黑" panose="020B0503020204020204" pitchFamily="34" charset="-122"/>
                <a:sym typeface="+mn-ea"/>
              </a:rPr>
              <a:t>DPO</a:t>
            </a:r>
            <a:r>
              <a:rPr lang="zh-CN" altLang="zh-CN" sz="2400" dirty="0">
                <a:cs typeface="微软雅黑" panose="020B0503020204020204" pitchFamily="34" charset="-122"/>
                <a:sym typeface="+mn-ea"/>
              </a:rPr>
              <a:t>对齐训练，使模型输出更符合人类偏好或任务偏好</a:t>
            </a:r>
          </a:p>
          <a:p>
            <a:pPr>
              <a:lnSpc>
                <a:spcPct val="100000"/>
              </a:lnSpc>
            </a:pPr>
            <a:r>
              <a:rPr lang="en-US" altLang="zh-CN" b="1" spc="200" dirty="0">
                <a:cs typeface="微软雅黑" panose="020B0503020204020204" pitchFamily="34" charset="-122"/>
                <a:sym typeface="+mn-ea"/>
              </a:rPr>
              <a:t>A5:</a:t>
            </a:r>
            <a:r>
              <a:rPr lang="zh-CN" altLang="en-US" b="1" spc="200" dirty="0">
                <a:latin typeface="Arial" panose="020B0604020202020204" pitchFamily="34" charset="0"/>
                <a:sym typeface="+mn-ea"/>
              </a:rPr>
              <a:t>推理增强策略</a:t>
            </a:r>
            <a:endParaRPr lang="en-US" altLang="zh-CN" b="1" dirty="0">
              <a:cs typeface="微软雅黑" panose="020B0503020204020204" pitchFamily="34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zh-CN" sz="2400" dirty="0">
                <a:latin typeface="+mn-ea"/>
                <a:sym typeface="+mn-ea"/>
              </a:rPr>
              <a:t>该模块不训练模型，通过提示策略、采样策略、验证器重排序等方式</a:t>
            </a:r>
            <a:r>
              <a:rPr lang="zh-CN" altLang="en-US" sz="2400" dirty="0">
                <a:latin typeface="+mn-ea"/>
                <a:sym typeface="+mn-ea"/>
              </a:rPr>
              <a:t>，</a:t>
            </a:r>
            <a:r>
              <a:rPr lang="zh-CN" altLang="zh-CN" sz="2400" dirty="0">
                <a:latin typeface="+mn-ea"/>
                <a:sym typeface="+mn-ea"/>
              </a:rPr>
              <a:t>在推理阶段提升模型表现。</a:t>
            </a:r>
            <a:endParaRPr lang="en-US" altLang="zh-CN" sz="2400" b="1" dirty="0">
              <a:cs typeface="微软雅黑" panose="020B0503020204020204" pitchFamily="34" charset="-122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E4977ED-19C6-3916-74A6-43668A07E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168BB-329B-4EC0-BBCE-DC6BA5995A49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26114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9BA257-9295-7818-68BC-7F8A546B8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A1: </a:t>
            </a:r>
            <a:r>
              <a:rPr lang="zh-CN" altLang="en-US" dirty="0"/>
              <a:t>推理指令数据构造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68B64CB-5DC5-27C3-9EBE-C7FFBA9BE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168BB-329B-4EC0-BBCE-DC6BA5995A49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9297EA11-86E3-A490-F652-CBB941226B3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03858" y="1611566"/>
            <a:ext cx="11433100" cy="3634868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2400" b="1" dirty="0">
                <a:sym typeface="Wingdings" panose="05000000000000000000" pitchFamily="2" charset="2"/>
              </a:rPr>
              <a:t>  本节实训基础要求（可以在当前代码的引导下完全实现）：</a:t>
            </a:r>
            <a:endParaRPr lang="en-US" altLang="zh-CN" sz="2400" b="1" dirty="0">
              <a:sym typeface="Wingdings" panose="05000000000000000000" pitchFamily="2" charset="2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/>
              <a:t>熟悉 </a:t>
            </a:r>
            <a:r>
              <a:rPr lang="en-US" altLang="zh-CN" dirty="0"/>
              <a:t>prepare_data.sh </a:t>
            </a:r>
            <a:r>
              <a:rPr lang="zh-CN" altLang="en-US" dirty="0"/>
              <a:t>的运行方式，能够通过环境变量配置数据路径、输出路径和切分参数。</a:t>
            </a:r>
            <a:endParaRPr lang="en-US" altLang="zh-CN" dirty="0"/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zh-CN" dirty="0"/>
              <a:t>掌握 Parquet 数据读取、字段清洗与格式转换过程。</a:t>
            </a:r>
            <a:endParaRPr lang="en-US" altLang="zh-CN" dirty="0"/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zh-CN" dirty="0"/>
              <a:t>能够将原始代码指令数据转换为 LLaMA-Factory 所需的 Alpaca SFT 数据格式。</a:t>
            </a:r>
            <a:endParaRPr lang="en-US" altLang="zh-CN" dirty="0"/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zh-CN" dirty="0"/>
              <a:t>掌握无效样本过滤、重复样本去除、样本数量限制和随机种子控制方法。</a:t>
            </a:r>
            <a:endParaRPr lang="en-US" altLang="zh-CN" dirty="0"/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zh-CN" dirty="0"/>
              <a:t>能够生成 train / valid / test 数据集及 dataset_info.json，并用于后续 SFT 训练。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023108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33B596-4BC6-3051-A265-AAC9720AE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A1: </a:t>
            </a:r>
            <a:r>
              <a:rPr lang="zh-CN" altLang="en-US" dirty="0"/>
              <a:t>推理指令数据构造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5C19B90-83BF-43E1-1C09-6397F35B1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168BB-329B-4EC0-BBCE-DC6BA5995A49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40B903A9-BD63-3340-E04E-BA04F4346835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03858" y="1149340"/>
            <a:ext cx="10418217" cy="487813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2400" b="1" dirty="0">
                <a:sym typeface="Wingdings" panose="05000000000000000000" pitchFamily="2" charset="2"/>
              </a:rPr>
              <a:t>  处理流程</a:t>
            </a:r>
            <a:endParaRPr lang="en-US" altLang="zh-CN" sz="2400" b="1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zh-CN" altLang="en-US" sz="2400" b="1" dirty="0">
                <a:sym typeface="Wingdings" panose="05000000000000000000" pitchFamily="2" charset="2"/>
              </a:rPr>
              <a:t>  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读取原始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Parquet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数据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fr-FR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提取</a:t>
            </a:r>
            <a:r>
              <a:rPr lang="fr-FR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instruction/prompt</a:t>
            </a:r>
            <a:r>
              <a:rPr lang="zh-CN" altLang="fr-FR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fr-FR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input.output</a:t>
            </a:r>
            <a:r>
              <a:rPr lang="zh-CN" altLang="fr-FR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字段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清洗空值与无效样本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  去除重复样本</a:t>
            </a:r>
            <a:endParaRPr lang="en-US" altLang="zh-CN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  按设定比例随机拆分为</a:t>
            </a:r>
            <a:r>
              <a:rPr lang="en-US" altLang="zh-CN" dirty="0"/>
              <a:t>train/valid/test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  输出为</a:t>
            </a:r>
            <a:r>
              <a:rPr lang="en-US" altLang="zh-CN" dirty="0"/>
              <a:t>JSON</a:t>
            </a:r>
            <a:r>
              <a:rPr lang="zh-CN" altLang="en-US" dirty="0"/>
              <a:t>文件，并生成数据索引信息</a:t>
            </a:r>
            <a:endParaRPr lang="zh-CN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119134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CC08A7-56C6-77FF-73EA-872D8BFE0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A1: </a:t>
            </a:r>
            <a:r>
              <a:rPr lang="zh-CN" altLang="en-US" dirty="0"/>
              <a:t>推理指令数据构造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9D592A2-3ED3-8DD6-F4EC-BBC279C2F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168BB-329B-4EC0-BBCE-DC6BA5995A49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BBE54761-389E-D0AA-1708-57F4566D9F1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73646" y="1405575"/>
            <a:ext cx="10418217" cy="487813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2400" b="1" dirty="0">
                <a:sym typeface="Wingdings" panose="05000000000000000000" pitchFamily="2" charset="2"/>
              </a:rPr>
              <a:t>  原始数据下载链接</a:t>
            </a:r>
            <a:endParaRPr lang="en-US" altLang="zh-CN" sz="2400" b="1" dirty="0">
              <a:sym typeface="Wingdings" panose="05000000000000000000" pitchFamily="2" charset="2"/>
            </a:endParaRP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zh-CN" sz="2000" b="1" i="1" dirty="0">
                <a:solidFill>
                  <a:srgbClr val="FF0000"/>
                </a:solidFill>
              </a:rPr>
              <a:t>hf download --repo-type dataset </a:t>
            </a:r>
            <a:r>
              <a:rPr lang="en-US" altLang="zh-CN" sz="2000" b="1" i="1" dirty="0" err="1">
                <a:solidFill>
                  <a:srgbClr val="FF0000"/>
                </a:solidFill>
              </a:rPr>
              <a:t>iamtarun</a:t>
            </a:r>
            <a:r>
              <a:rPr lang="en-US" altLang="zh-CN" sz="2000" b="1" i="1" dirty="0">
                <a:solidFill>
                  <a:srgbClr val="FF0000"/>
                </a:solidFill>
              </a:rPr>
              <a:t>/python_code_instructions_18k_alpaca --local-</a:t>
            </a:r>
            <a:r>
              <a:rPr lang="en-US" altLang="zh-CN" sz="2000" b="1" i="1" dirty="0" err="1">
                <a:solidFill>
                  <a:srgbClr val="FF0000"/>
                </a:solidFill>
              </a:rPr>
              <a:t>dir</a:t>
            </a:r>
            <a:r>
              <a:rPr lang="en-US" altLang="zh-CN" sz="2000" b="1" i="1" dirty="0">
                <a:solidFill>
                  <a:srgbClr val="FF0000"/>
                </a:solidFill>
              </a:rPr>
              <a:t> …/python_code_instructions_18k_alpaca</a:t>
            </a:r>
          </a:p>
        </p:txBody>
      </p:sp>
    </p:spTree>
    <p:extLst>
      <p:ext uri="{BB962C8B-B14F-4D97-AF65-F5344CB8AC3E}">
        <p14:creationId xmlns:p14="http://schemas.microsoft.com/office/powerpoint/2010/main" val="34950984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799E7-06B7-65DF-6D74-7A70DF86F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EEFAB1-2600-E9C3-2492-2678ED6C5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A1: </a:t>
            </a:r>
            <a:r>
              <a:rPr lang="zh-CN" altLang="en-US" dirty="0"/>
              <a:t>推理指令数据构造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4533BC-2FED-D95E-8C10-C990AE25B0B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03858" y="1047663"/>
            <a:ext cx="11433100" cy="5335883"/>
          </a:xfrm>
        </p:spPr>
        <p:txBody>
          <a:bodyPr>
            <a:normAutofit fontScale="47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5100" b="1" dirty="0"/>
              <a:t>环境配置：</a:t>
            </a:r>
          </a:p>
          <a:p>
            <a:pPr marL="457200" lvl="1" indent="0">
              <a:buNone/>
            </a:pPr>
            <a:r>
              <a:rPr lang="en-US" altLang="zh-CN" sz="5100" b="1" dirty="0">
                <a:solidFill>
                  <a:schemeClr val="accent1">
                    <a:lumMod val="75000"/>
                  </a:schemeClr>
                </a:solidFill>
                <a:sym typeface="Wingdings" panose="05000000000000000000" pitchFamily="2" charset="2"/>
              </a:rPr>
              <a:t>1.    </a:t>
            </a:r>
            <a:r>
              <a:rPr lang="zh-CN" altLang="en-US" sz="5100" b="1" dirty="0">
                <a:sym typeface="Wingdings" panose="05000000000000000000" pitchFamily="2" charset="2"/>
              </a:rPr>
              <a:t>环境配置</a:t>
            </a:r>
            <a:endParaRPr lang="en-US" altLang="zh-CN" sz="5100" b="1" dirty="0"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r>
              <a:rPr lang="en-US" altLang="zh-CN" sz="4200" b="1" i="1" dirty="0" err="1">
                <a:solidFill>
                  <a:srgbClr val="FF0000"/>
                </a:solidFill>
                <a:sym typeface="Wingdings" panose="05000000000000000000" pitchFamily="2" charset="2"/>
              </a:rPr>
              <a:t>conda</a:t>
            </a:r>
            <a:r>
              <a:rPr lang="en-US" altLang="zh-CN" sz="4200" b="1" i="1" dirty="0">
                <a:solidFill>
                  <a:srgbClr val="FF0000"/>
                </a:solidFill>
                <a:sym typeface="Wingdings" panose="05000000000000000000" pitchFamily="2" charset="2"/>
              </a:rPr>
              <a:t> create -n </a:t>
            </a:r>
            <a:r>
              <a:rPr lang="en-US" altLang="zh-CN" sz="4200" b="1" i="1" dirty="0" err="1">
                <a:solidFill>
                  <a:srgbClr val="FF0000"/>
                </a:solidFill>
                <a:sym typeface="Wingdings" panose="05000000000000000000" pitchFamily="2" charset="2"/>
              </a:rPr>
              <a:t>your_env</a:t>
            </a:r>
            <a:r>
              <a:rPr lang="en-US" altLang="zh-CN" sz="4200" b="1" i="1" dirty="0">
                <a:solidFill>
                  <a:srgbClr val="FF0000"/>
                </a:solidFill>
                <a:sym typeface="Wingdings" panose="05000000000000000000" pitchFamily="2" charset="2"/>
              </a:rPr>
              <a:t> python=3.11</a:t>
            </a:r>
            <a:endParaRPr lang="en-US" altLang="zh-CN" sz="4200" b="1" dirty="0"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endParaRPr lang="en-US" altLang="zh-CN" b="1" dirty="0"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r>
              <a:rPr lang="en-US" altLang="zh-CN" sz="5100" b="1" dirty="0">
                <a:solidFill>
                  <a:schemeClr val="accent1">
                    <a:lumMod val="75000"/>
                  </a:schemeClr>
                </a:solidFill>
                <a:sym typeface="Wingdings" panose="05000000000000000000" pitchFamily="2" charset="2"/>
              </a:rPr>
              <a:t>2.    </a:t>
            </a:r>
            <a:r>
              <a:rPr lang="zh-CN" altLang="en-US" sz="5100" b="1" dirty="0">
                <a:sym typeface="Wingdings" panose="05000000000000000000" pitchFamily="2" charset="2"/>
              </a:rPr>
              <a:t>安装依赖</a:t>
            </a:r>
            <a:endParaRPr lang="en-US" altLang="zh-CN" sz="5100" b="1" dirty="0"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r>
              <a:rPr lang="en-US" altLang="zh-CN" sz="4200" b="1" i="1" dirty="0">
                <a:solidFill>
                  <a:srgbClr val="FF0000"/>
                </a:solidFill>
                <a:sym typeface="Wingdings" panose="05000000000000000000" pitchFamily="2" charset="2"/>
              </a:rPr>
              <a:t>pip install –e ./</a:t>
            </a:r>
            <a:r>
              <a:rPr lang="en-US" altLang="zh-CN" sz="4200" b="1" i="1" dirty="0" err="1">
                <a:solidFill>
                  <a:srgbClr val="FF0000"/>
                </a:solidFill>
                <a:sym typeface="Wingdings" panose="05000000000000000000" pitchFamily="2" charset="2"/>
              </a:rPr>
              <a:t>LlamaFactory</a:t>
            </a:r>
            <a:r>
              <a:rPr lang="en-US" altLang="zh-CN" sz="4200" b="1" i="1" dirty="0">
                <a:solidFill>
                  <a:srgbClr val="FF0000"/>
                </a:solidFill>
                <a:sym typeface="Wingdings" panose="05000000000000000000" pitchFamily="2" charset="2"/>
              </a:rPr>
              <a:t> -</a:t>
            </a:r>
            <a:r>
              <a:rPr lang="en-US" altLang="zh-CN" sz="4200" b="1" i="1" dirty="0" err="1">
                <a:solidFill>
                  <a:srgbClr val="FF0000"/>
                </a:solidFill>
                <a:sym typeface="Wingdings" panose="05000000000000000000" pitchFamily="2" charset="2"/>
              </a:rPr>
              <a:t>i</a:t>
            </a:r>
            <a:r>
              <a:rPr lang="en-US" altLang="zh-CN" sz="4200" b="1" i="1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altLang="zh-CN" sz="4200" b="1" i="1" dirty="0">
                <a:solidFill>
                  <a:srgbClr val="FF0000"/>
                </a:solidFill>
                <a:sym typeface="Wingdings" panose="05000000000000000000" pitchFamily="2" charset="2"/>
                <a:hlinkClick r:id="rId2"/>
              </a:rPr>
              <a:t>https://pypi.tuna.tsinghua.edu.cn/simple</a:t>
            </a:r>
            <a:endParaRPr lang="en-US" altLang="zh-CN" sz="4200" b="1" i="1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r>
              <a:rPr lang="en-US" altLang="zh-CN" sz="4200" b="1" i="1" dirty="0">
                <a:solidFill>
                  <a:srgbClr val="FF0000"/>
                </a:solidFill>
                <a:sym typeface="Wingdings" panose="05000000000000000000" pitchFamily="2" charset="2"/>
              </a:rPr>
              <a:t>pip install torch==2.5.1   </a:t>
            </a:r>
            <a:endParaRPr lang="en-US" altLang="zh-CN" sz="4200" b="1" dirty="0">
              <a:sym typeface="Wingdings" panose="05000000000000000000" pitchFamily="2" charset="2"/>
            </a:endParaRPr>
          </a:p>
          <a:p>
            <a:pPr marL="914400" lvl="1" indent="-457200">
              <a:buFont typeface="+mj-lt"/>
              <a:buAutoNum type="arabicPeriod"/>
            </a:pPr>
            <a:endParaRPr lang="en-US" altLang="zh-CN" sz="2400" b="1" dirty="0"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r>
              <a:rPr lang="en-US" altLang="zh-CN" sz="5100" b="1" dirty="0">
                <a:solidFill>
                  <a:schemeClr val="accent1">
                    <a:lumMod val="75000"/>
                  </a:schemeClr>
                </a:solidFill>
                <a:sym typeface="Wingdings" panose="05000000000000000000" pitchFamily="2" charset="2"/>
              </a:rPr>
              <a:t>3.    </a:t>
            </a:r>
            <a:r>
              <a:rPr lang="zh-CN" altLang="en-US" sz="5100" b="1" dirty="0">
                <a:sym typeface="Wingdings" panose="05000000000000000000" pitchFamily="2" charset="2"/>
              </a:rPr>
              <a:t>运行数据处理脚本</a:t>
            </a:r>
            <a:endParaRPr lang="en-US" altLang="zh-CN" sz="5100" b="1" dirty="0"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r>
              <a:rPr lang="zh-CN" altLang="zh-CN" sz="4200" b="1" i="1" dirty="0">
                <a:solidFill>
                  <a:srgbClr val="FF0000"/>
                </a:solidFill>
              </a:rPr>
              <a:t>cd </a:t>
            </a:r>
            <a:r>
              <a:rPr lang="en-US" altLang="zh-CN" sz="4200" b="1" i="1" dirty="0">
                <a:solidFill>
                  <a:srgbClr val="FF0000"/>
                </a:solidFill>
              </a:rPr>
              <a:t>.</a:t>
            </a:r>
            <a:r>
              <a:rPr lang="zh-CN" altLang="zh-CN" sz="4200" b="1" i="1" dirty="0">
                <a:solidFill>
                  <a:srgbClr val="FF0000"/>
                </a:solidFill>
              </a:rPr>
              <a:t>/assignment_A</a:t>
            </a:r>
            <a:endParaRPr lang="en-US" altLang="zh-CN" sz="4200" b="1" i="1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r>
              <a:rPr lang="en-US" altLang="zh-CN" sz="4200" b="1" i="1" dirty="0">
                <a:solidFill>
                  <a:srgbClr val="FF0000"/>
                </a:solidFill>
                <a:sym typeface="Wingdings" panose="05000000000000000000" pitchFamily="2" charset="2"/>
              </a:rPr>
              <a:t>bash sft/scripts/prepare_data.sh</a:t>
            </a:r>
          </a:p>
          <a:p>
            <a:pPr marL="457200" lvl="1" indent="0">
              <a:buNone/>
            </a:pPr>
            <a:endParaRPr lang="en-US" altLang="zh-CN" b="1" i="1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r>
              <a:rPr lang="en-US" altLang="zh-CN" sz="5100" b="1" dirty="0">
                <a:solidFill>
                  <a:schemeClr val="accent1">
                    <a:lumMod val="75000"/>
                  </a:schemeClr>
                </a:solidFill>
                <a:sym typeface="Wingdings" panose="05000000000000000000" pitchFamily="2" charset="2"/>
              </a:rPr>
              <a:t>4.    </a:t>
            </a:r>
            <a:r>
              <a:rPr lang="zh-CN" altLang="en-US" sz="5100" b="1" dirty="0">
                <a:sym typeface="Wingdings" panose="05000000000000000000" pitchFamily="2" charset="2"/>
              </a:rPr>
              <a:t>运行结束后，</a:t>
            </a:r>
            <a:r>
              <a:rPr lang="en-US" altLang="zh-CN" sz="5100" b="1" dirty="0">
                <a:sym typeface="Wingdings" panose="05000000000000000000" pitchFamily="2" charset="2"/>
              </a:rPr>
              <a:t>data/</a:t>
            </a:r>
            <a:r>
              <a:rPr lang="zh-CN" altLang="en-US" sz="5100" b="1" dirty="0">
                <a:sym typeface="Wingdings" panose="05000000000000000000" pitchFamily="2" charset="2"/>
              </a:rPr>
              <a:t>目录会生成处理后的数据：</a:t>
            </a:r>
            <a:r>
              <a:rPr lang="en-US" altLang="zh-CN" sz="5100" b="1" dirty="0" err="1">
                <a:sym typeface="Wingdings" panose="05000000000000000000" pitchFamily="2" charset="2"/>
              </a:rPr>
              <a:t>code_sft_test.json</a:t>
            </a:r>
            <a:r>
              <a:rPr lang="zh-CN" altLang="en-US" sz="5100" b="1" dirty="0">
                <a:sym typeface="Wingdings" panose="05000000000000000000" pitchFamily="2" charset="2"/>
              </a:rPr>
              <a:t>、</a:t>
            </a:r>
            <a:r>
              <a:rPr lang="en-US" altLang="zh-CN" sz="5100" b="1" dirty="0" err="1">
                <a:sym typeface="Wingdings" panose="05000000000000000000" pitchFamily="2" charset="2"/>
              </a:rPr>
              <a:t>code_sft_valid.json</a:t>
            </a:r>
            <a:r>
              <a:rPr lang="zh-CN" altLang="en-US" sz="5100" b="1" dirty="0">
                <a:sym typeface="Wingdings" panose="05000000000000000000" pitchFamily="2" charset="2"/>
              </a:rPr>
              <a:t>、</a:t>
            </a:r>
            <a:r>
              <a:rPr lang="en-US" altLang="zh-CN" sz="5100" b="1" dirty="0" err="1">
                <a:sym typeface="Wingdings" panose="05000000000000000000" pitchFamily="2" charset="2"/>
              </a:rPr>
              <a:t>code_sft_test.json</a:t>
            </a:r>
            <a:r>
              <a:rPr lang="zh-CN" altLang="en-US" sz="5100" b="1" dirty="0">
                <a:sym typeface="Wingdings" panose="05000000000000000000" pitchFamily="2" charset="2"/>
              </a:rPr>
              <a:t>以及数据清单</a:t>
            </a:r>
            <a:r>
              <a:rPr lang="en-US" altLang="zh-CN" sz="5100" b="1" dirty="0" err="1">
                <a:sym typeface="Wingdings" panose="05000000000000000000" pitchFamily="2" charset="2"/>
              </a:rPr>
              <a:t>dataset_info.json</a:t>
            </a:r>
            <a:endParaRPr lang="en-US" altLang="zh-CN" sz="5100" b="1" dirty="0"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endParaRPr lang="en-US" altLang="zh-CN" sz="6000" b="1" dirty="0">
              <a:sym typeface="Wingdings" panose="05000000000000000000" pitchFamily="2" charset="2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8B6C995-43E1-62B5-98E7-BE5184D70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168BB-329B-4EC0-BBCE-DC6BA5995A4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89720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56A03E-5834-ADB1-3D06-60FE56C54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A1: </a:t>
            </a:r>
            <a:r>
              <a:rPr lang="zh-CN" altLang="en-US" dirty="0"/>
              <a:t>推理指令数据构造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4BF5C96-82EF-B1F2-623D-ECAFDBD88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168BB-329B-4EC0-BBCE-DC6BA5995A49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86F14DE7-3F09-469F-D34A-0F48D5D61EFE}"/>
              </a:ext>
            </a:extLst>
          </p:cNvPr>
          <p:cNvSpPr txBox="1"/>
          <p:nvPr/>
        </p:nvSpPr>
        <p:spPr>
          <a:xfrm>
            <a:off x="403860" y="1087120"/>
            <a:ext cx="6175375" cy="10648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rgbClr val="3333B3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rgbClr val="3333B3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rgbClr val="3333B3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rgbClr val="3333B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rgbClr val="3333B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zh-CN" altLang="en-US" sz="2400" b="1" dirty="0">
                <a:sym typeface="Wingdings" panose="05000000000000000000" pitchFamily="2" charset="2"/>
              </a:rPr>
              <a:t>  代码运行图例：</a:t>
            </a:r>
            <a:endParaRPr lang="en-US" altLang="zh-CN" sz="2400" b="1" dirty="0">
              <a:sym typeface="Wingdings" panose="05000000000000000000" pitchFamily="2" charset="2"/>
            </a:endParaRPr>
          </a:p>
          <a:p>
            <a:pPr marL="971550" lvl="1" indent="-514350">
              <a:buFont typeface="+mj-lt"/>
              <a:buAutoNum type="arabicPeriod"/>
            </a:pPr>
            <a:r>
              <a:rPr lang="zh-CN" altLang="en-US" b="1" dirty="0">
                <a:sym typeface="Wingdings" panose="05000000000000000000" pitchFamily="2" charset="2"/>
              </a:rPr>
              <a:t>代码运行后打印的信息</a:t>
            </a:r>
            <a:endParaRPr lang="zh-CN" altLang="en-US" sz="2400" b="1" dirty="0">
              <a:sym typeface="Wingdings" panose="05000000000000000000" pitchFamily="2" charset="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41D9DCD3-AE01-7766-C281-E8602FACE7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2675"/>
          <a:stretch>
            <a:fillRect/>
          </a:stretch>
        </p:blipFill>
        <p:spPr>
          <a:xfrm>
            <a:off x="985838" y="2440940"/>
            <a:ext cx="8587867" cy="2145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2120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68307-E5FA-E090-1B90-07307F067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57573E-77F4-6030-51B6-90856AF33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A1: </a:t>
            </a:r>
            <a:r>
              <a:rPr lang="zh-CN" altLang="en-US" dirty="0"/>
              <a:t>推理指令数据构造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946419C-B014-ABBB-DEC2-62FAFED70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168BB-329B-4EC0-BBCE-DC6BA5995A49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5DCB0E2C-3D29-B8B6-6BA9-DDB8AF2E98FD}"/>
              </a:ext>
            </a:extLst>
          </p:cNvPr>
          <p:cNvSpPr txBox="1"/>
          <p:nvPr/>
        </p:nvSpPr>
        <p:spPr>
          <a:xfrm>
            <a:off x="403860" y="1087120"/>
            <a:ext cx="6175375" cy="10648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rgbClr val="3333B3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rgbClr val="3333B3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rgbClr val="3333B3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rgbClr val="3333B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rgbClr val="3333B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zh-CN" altLang="en-US" sz="2400" b="1" dirty="0">
                <a:sym typeface="Wingdings" panose="05000000000000000000" pitchFamily="2" charset="2"/>
              </a:rPr>
              <a:t>  代码运行图例：</a:t>
            </a:r>
          </a:p>
          <a:p>
            <a:pPr marL="971550" lvl="1" indent="-514350">
              <a:buFont typeface="+mj-lt"/>
              <a:buAutoNum type="arabicPeriod" startAt="2"/>
            </a:pPr>
            <a:r>
              <a:rPr lang="zh-CN" altLang="en-US" b="1" dirty="0">
                <a:sym typeface="Wingdings" panose="05000000000000000000" pitchFamily="2" charset="2"/>
              </a:rPr>
              <a:t>生成文件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A0A6967-75BD-3ADA-EE2E-D10201E50A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0502" y="2216310"/>
            <a:ext cx="5390517" cy="4013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1285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271D7-9DF7-C907-4FB9-7535098CB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8A02D5-9171-F1F5-FF4F-DEE4603E1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A1: </a:t>
            </a:r>
            <a:r>
              <a:rPr lang="zh-CN" altLang="en-US" dirty="0"/>
              <a:t>推理指令数据构造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2DE983A-AFAA-A98C-7003-E4D63FF49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E1D168BB-329B-4EC0-BBCE-DC6BA5995A49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F8AC31D6-707E-1518-F4FC-5712E8C8AC2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234530" y="1066272"/>
            <a:ext cx="11523274" cy="4290732"/>
          </a:xfrm>
        </p:spPr>
        <p:txBody>
          <a:bodyPr>
            <a:noAutofit/>
          </a:bodyPr>
          <a:lstStyle/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/>
              <a:t>  </a:t>
            </a:r>
            <a:r>
              <a:rPr lang="zh-CN" altLang="en-US" sz="2000" b="1" dirty="0">
                <a:sym typeface="Wingdings" panose="05000000000000000000" pitchFamily="2" charset="2"/>
              </a:rPr>
              <a:t>进阶要求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zh-CN" sz="2000" dirty="0"/>
              <a:t>增加数据统计模块，统计 instruction、input、output 的长度分布、空值比例、重复率</a:t>
            </a:r>
            <a:r>
              <a:rPr lang="zh-CN" altLang="en-US" sz="2000" dirty="0"/>
              <a:t>等质量指标</a:t>
            </a:r>
            <a:r>
              <a:rPr lang="zh-CN" altLang="zh-CN" sz="2000" dirty="0"/>
              <a:t>。 </a:t>
            </a:r>
            <a:endParaRPr lang="en-US" altLang="zh-CN" sz="2000" dirty="0"/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zh-CN" sz="2000" dirty="0"/>
              <a:t>增加数据质量过滤参数，例如 --min_output_len、--max_output_len、--remove_duplicates，过滤过短、过长、重复或格式异常的样本。 </a:t>
            </a:r>
            <a:endParaRPr lang="en-US" altLang="zh-CN" sz="2000" dirty="0"/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/>
              <a:t>输出 </a:t>
            </a:r>
            <a:r>
              <a:rPr lang="en-US" altLang="zh-CN" sz="2000" dirty="0" err="1"/>
              <a:t>sample_preview.json</a:t>
            </a:r>
            <a:r>
              <a:rPr lang="en-US" altLang="zh-CN" sz="2000" dirty="0"/>
              <a:t> </a:t>
            </a:r>
            <a:r>
              <a:rPr lang="zh-CN" altLang="en-US" sz="2000" dirty="0"/>
              <a:t>保存筛选后样本示例，输出 </a:t>
            </a:r>
            <a:r>
              <a:rPr lang="en-US" altLang="zh-CN" sz="2000" dirty="0" err="1"/>
              <a:t>bad_cases.json</a:t>
            </a:r>
            <a:r>
              <a:rPr lang="en-US" altLang="zh-CN" sz="2000" dirty="0"/>
              <a:t> </a:t>
            </a:r>
            <a:r>
              <a:rPr lang="zh-CN" altLang="en-US" sz="2000" dirty="0"/>
              <a:t>保存被过滤样本及过滤原因，便于人工检查数据格式、分析过滤规则是否合理，并进一步优化数据筛选策略。</a:t>
            </a:r>
            <a:endParaRPr lang="en-US" altLang="zh-CN" sz="2000" dirty="0"/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zh-CN" sz="2000" dirty="0"/>
              <a:t>增加高质量数据筛选策略，根据代码</a:t>
            </a:r>
            <a:r>
              <a:rPr lang="zh-CN" altLang="en-US" sz="2000" dirty="0"/>
              <a:t>语法</a:t>
            </a:r>
            <a:r>
              <a:rPr lang="zh-CN" altLang="zh-CN" sz="2000" dirty="0"/>
              <a:t>可解析性、输出长度、任务完整性、重复率和任务类型均衡性筛选训练样本，尝试用更少但质量更高的数据实现高效 SFT。 </a:t>
            </a:r>
            <a:endParaRPr lang="en-US" altLang="zh-CN" sz="2000" dirty="0"/>
          </a:p>
          <a:p>
            <a:pPr marL="914400" lvl="1" indent="-457200">
              <a:lnSpc>
                <a:spcPct val="130000"/>
              </a:lnSpc>
              <a:buFont typeface="+mj-lt"/>
              <a:buAutoNum type="arabicPeriod"/>
            </a:pPr>
            <a:endParaRPr lang="en-US" altLang="zh-CN" sz="2000" b="1" dirty="0"/>
          </a:p>
          <a:p>
            <a:pPr marL="457200" lvl="1" indent="0">
              <a:lnSpc>
                <a:spcPct val="130000"/>
              </a:lnSpc>
              <a:buNone/>
            </a:pP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1417404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1694D9-2700-BB50-A790-8E326F656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A2: SFT</a:t>
            </a:r>
            <a:r>
              <a:rPr lang="zh-CN" altLang="en-US" dirty="0"/>
              <a:t>微调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51431B4-A517-E143-EA35-F02530D67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168BB-329B-4EC0-BBCE-DC6BA5995A49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CD24FCA7-0A18-8198-E944-2AFA9FF40F5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03858" y="1611566"/>
            <a:ext cx="11433100" cy="363486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2400" b="1" dirty="0">
                <a:sym typeface="Wingdings" panose="05000000000000000000" pitchFamily="2" charset="2"/>
              </a:rPr>
              <a:t>  本节实训基础要求（可以在当前代码的引导下完全实现）：</a:t>
            </a:r>
            <a:endParaRPr lang="en-US" altLang="zh-CN" sz="2400" b="1" dirty="0">
              <a:sym typeface="Wingdings" panose="05000000000000000000" pitchFamily="2" charset="2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zh-CN" dirty="0"/>
              <a:t>熟悉 SFT 微调任务流程与脚本结构。 </a:t>
            </a:r>
            <a:endParaRPr lang="en-US" altLang="zh-CN" dirty="0"/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zh-CN" dirty="0"/>
              <a:t>正确配置并运行 sft/scripts/train.sh 完成模型训练。 </a:t>
            </a:r>
            <a:endParaRPr lang="en-US" altLang="zh-CN" dirty="0"/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zh-CN" dirty="0"/>
              <a:t>使用 sft/scripts/predict_full.sh 生成模型预测结果。 </a:t>
            </a:r>
            <a:endParaRPr lang="en-US" altLang="zh-CN" dirty="0"/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zh-CN" dirty="0"/>
              <a:t>运行 sft/scripts/evaluate_full.sh 完成结果评估。 </a:t>
            </a:r>
            <a:endParaRPr lang="en-US" altLang="zh-CN" dirty="0"/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zh-CN" dirty="0"/>
              <a:t>记录训练、预测与评估结果，分析模型效果。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388943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6B991-37C1-4E3B-EA2A-CB9B173A8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769879-8F28-B2E3-84E5-17B2D8D79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A2: SFT</a:t>
            </a:r>
            <a:r>
              <a:rPr lang="zh-CN" altLang="en-US" dirty="0"/>
              <a:t>微调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BEE6A5B-945B-D842-E9B2-CA3E9DF9E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168BB-329B-4EC0-BBCE-DC6BA5995A49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963A2404-D1C1-01E2-6DDC-94CEA67847E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03858" y="1149340"/>
            <a:ext cx="10418217" cy="487813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altLang="zh-CN" sz="2400" b="1" dirty="0">
                <a:sym typeface="Wingdings" panose="05000000000000000000" pitchFamily="2" charset="2"/>
              </a:rPr>
              <a:t>  SFT </a:t>
            </a:r>
            <a:r>
              <a:rPr lang="zh-CN" altLang="en-US" sz="2400" b="1" dirty="0">
                <a:sym typeface="Wingdings" panose="05000000000000000000" pitchFamily="2" charset="2"/>
              </a:rPr>
              <a:t>微调及测试流程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dirty="0"/>
              <a:t>  </a:t>
            </a:r>
            <a:r>
              <a:rPr lang="zh-CN" altLang="zh-CN" dirty="0"/>
              <a:t>准备训练数据与模型配置。</a:t>
            </a:r>
            <a:endParaRPr lang="en-US" altLang="zh-CN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dirty="0"/>
              <a:t>  </a:t>
            </a:r>
            <a:r>
              <a:rPr lang="zh-CN" altLang="zh-CN" dirty="0"/>
              <a:t>运行 sft/scripts/train.sh 完成 SFT 微调。</a:t>
            </a:r>
            <a:endParaRPr lang="en-US" altLang="zh-CN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dirty="0"/>
              <a:t>  </a:t>
            </a:r>
            <a:r>
              <a:rPr lang="zh-CN" altLang="zh-CN" dirty="0"/>
              <a:t>检查训练日志与模型输出目录。</a:t>
            </a:r>
            <a:endParaRPr lang="en-US" altLang="zh-CN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dirty="0"/>
              <a:t>  </a:t>
            </a:r>
            <a:r>
              <a:rPr lang="zh-CN" altLang="zh-CN" dirty="0"/>
              <a:t>运行 sft/scripts/predict_full.sh 生成测试预测结果。</a:t>
            </a:r>
            <a:endParaRPr lang="en-US" altLang="zh-CN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dirty="0"/>
              <a:t>  </a:t>
            </a:r>
            <a:r>
              <a:rPr lang="zh-CN" altLang="zh-CN" dirty="0"/>
              <a:t>运行 sft/scripts/evaluate_full.sh 评估模型效果。</a:t>
            </a:r>
            <a:endParaRPr lang="en-US" altLang="zh-CN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dirty="0"/>
              <a:t>  </a:t>
            </a:r>
            <a:r>
              <a:rPr lang="zh-CN" altLang="zh-CN" dirty="0"/>
              <a:t>汇总预测与评估结果，完成效果分析。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050337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3CF8C-553D-D82E-78D9-F94064945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119DFA-39D9-2EBB-A31A-FA496A29C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A2: SFT</a:t>
            </a:r>
            <a:r>
              <a:rPr lang="zh-CN" altLang="en-US" dirty="0"/>
              <a:t>微调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1ED539-9E82-2A5C-7FD8-D922FE29044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03858" y="1047664"/>
            <a:ext cx="11433100" cy="557456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2400" b="1" dirty="0"/>
              <a:t>具体步骤：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lang="en-US" altLang="zh-CN" sz="2200" b="1" dirty="0">
                <a:solidFill>
                  <a:schemeClr val="accent1">
                    <a:lumMod val="75000"/>
                  </a:schemeClr>
                </a:solidFill>
                <a:sym typeface="Wingdings" panose="05000000000000000000" pitchFamily="2" charset="2"/>
              </a:rPr>
              <a:t>1.    </a:t>
            </a:r>
            <a:r>
              <a:rPr lang="zh-CN" altLang="en-US" sz="2200" dirty="0">
                <a:sym typeface="Wingdings" panose="05000000000000000000" pitchFamily="2" charset="2"/>
              </a:rPr>
              <a:t>环境配置</a:t>
            </a:r>
            <a:endParaRPr lang="en-US" altLang="zh-CN" sz="2200" dirty="0">
              <a:sym typeface="Wingdings" panose="05000000000000000000" pitchFamily="2" charset="2"/>
            </a:endParaRPr>
          </a:p>
          <a:p>
            <a:pPr marL="457200" lvl="1" indent="0">
              <a:lnSpc>
                <a:spcPct val="110000"/>
              </a:lnSpc>
              <a:buNone/>
            </a:pPr>
            <a:r>
              <a:rPr lang="en-US" altLang="zh-CN" sz="1900" b="1" i="1" dirty="0">
                <a:solidFill>
                  <a:srgbClr val="FF0000"/>
                </a:solidFill>
                <a:sym typeface="Wingdings" panose="05000000000000000000" pitchFamily="2" charset="2"/>
              </a:rPr>
              <a:t>	</a:t>
            </a:r>
            <a:r>
              <a:rPr lang="en-US" altLang="zh-CN" sz="1900" b="1" i="1" dirty="0" err="1">
                <a:solidFill>
                  <a:srgbClr val="FF0000"/>
                </a:solidFill>
                <a:sym typeface="Wingdings" panose="05000000000000000000" pitchFamily="2" charset="2"/>
              </a:rPr>
              <a:t>conda</a:t>
            </a:r>
            <a:r>
              <a:rPr lang="en-US" altLang="zh-CN" sz="1900" b="1" i="1" dirty="0">
                <a:solidFill>
                  <a:srgbClr val="FF0000"/>
                </a:solidFill>
                <a:sym typeface="Wingdings" panose="05000000000000000000" pitchFamily="2" charset="2"/>
              </a:rPr>
              <a:t> create -n </a:t>
            </a:r>
            <a:r>
              <a:rPr lang="en-US" altLang="zh-CN" sz="1900" b="1" i="1" dirty="0" err="1">
                <a:solidFill>
                  <a:srgbClr val="FF0000"/>
                </a:solidFill>
                <a:sym typeface="Wingdings" panose="05000000000000000000" pitchFamily="2" charset="2"/>
              </a:rPr>
              <a:t>your_env</a:t>
            </a:r>
            <a:r>
              <a:rPr lang="en-US" altLang="zh-CN" sz="1900" b="1" i="1" dirty="0">
                <a:solidFill>
                  <a:srgbClr val="FF0000"/>
                </a:solidFill>
                <a:sym typeface="Wingdings" panose="05000000000000000000" pitchFamily="2" charset="2"/>
              </a:rPr>
              <a:t> python=3.11</a:t>
            </a:r>
            <a:endParaRPr lang="en-US" altLang="zh-CN" sz="1900" b="1" dirty="0">
              <a:sym typeface="Wingdings" panose="05000000000000000000" pitchFamily="2" charset="2"/>
            </a:endParaRPr>
          </a:p>
          <a:p>
            <a:pPr marL="457200" lvl="1" indent="0">
              <a:lnSpc>
                <a:spcPct val="110000"/>
              </a:lnSpc>
              <a:buNone/>
            </a:pPr>
            <a:r>
              <a:rPr lang="en-US" altLang="zh-CN" sz="2200" b="1" dirty="0">
                <a:solidFill>
                  <a:schemeClr val="accent1">
                    <a:lumMod val="75000"/>
                  </a:schemeClr>
                </a:solidFill>
                <a:sym typeface="Wingdings" panose="05000000000000000000" pitchFamily="2" charset="2"/>
              </a:rPr>
              <a:t>2.    </a:t>
            </a:r>
            <a:r>
              <a:rPr lang="zh-CN" altLang="en-US" sz="2200" dirty="0">
                <a:sym typeface="Wingdings" panose="05000000000000000000" pitchFamily="2" charset="2"/>
              </a:rPr>
              <a:t>安装依赖</a:t>
            </a:r>
            <a:endParaRPr lang="en-US" altLang="zh-CN" sz="2200" dirty="0">
              <a:sym typeface="Wingdings" panose="05000000000000000000" pitchFamily="2" charset="2"/>
            </a:endParaRPr>
          </a:p>
          <a:p>
            <a:pPr marL="457200" lvl="1" indent="0">
              <a:lnSpc>
                <a:spcPct val="110000"/>
              </a:lnSpc>
              <a:buNone/>
            </a:pPr>
            <a:r>
              <a:rPr lang="en-US" altLang="zh-CN" sz="1900" b="1" i="1" dirty="0">
                <a:solidFill>
                  <a:srgbClr val="FF0000"/>
                </a:solidFill>
                <a:sym typeface="Wingdings" panose="05000000000000000000" pitchFamily="2" charset="2"/>
              </a:rPr>
              <a:t>	pip install –e ./</a:t>
            </a:r>
            <a:r>
              <a:rPr lang="en-US" altLang="zh-CN" sz="1900" b="1" i="1" dirty="0" err="1">
                <a:solidFill>
                  <a:srgbClr val="FF0000"/>
                </a:solidFill>
                <a:sym typeface="Wingdings" panose="05000000000000000000" pitchFamily="2" charset="2"/>
              </a:rPr>
              <a:t>LlamaFactory</a:t>
            </a:r>
            <a:r>
              <a:rPr lang="en-US" altLang="zh-CN" sz="1900" b="1" i="1" dirty="0">
                <a:solidFill>
                  <a:srgbClr val="FF0000"/>
                </a:solidFill>
                <a:sym typeface="Wingdings" panose="05000000000000000000" pitchFamily="2" charset="2"/>
              </a:rPr>
              <a:t> -</a:t>
            </a:r>
            <a:r>
              <a:rPr lang="en-US" altLang="zh-CN" sz="1900" b="1" i="1" dirty="0" err="1">
                <a:solidFill>
                  <a:srgbClr val="FF0000"/>
                </a:solidFill>
                <a:sym typeface="Wingdings" panose="05000000000000000000" pitchFamily="2" charset="2"/>
              </a:rPr>
              <a:t>i</a:t>
            </a:r>
            <a:r>
              <a:rPr lang="en-US" altLang="zh-CN" sz="1900" b="1" i="1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altLang="zh-CN" sz="1900" b="1" i="1" dirty="0">
                <a:solidFill>
                  <a:srgbClr val="FF0000"/>
                </a:solidFill>
                <a:sym typeface="Wingdings" panose="05000000000000000000" pitchFamily="2" charset="2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https://pypi.tuna.tsinghua.edu.cn/simple</a:t>
            </a:r>
            <a:endParaRPr lang="en-US" altLang="zh-CN" sz="1900" b="1" i="1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marL="457200" lvl="1" indent="0">
              <a:lnSpc>
                <a:spcPct val="110000"/>
              </a:lnSpc>
              <a:buNone/>
            </a:pPr>
            <a:r>
              <a:rPr lang="en-US" altLang="zh-CN" sz="1900" b="1" i="1" dirty="0">
                <a:solidFill>
                  <a:srgbClr val="FF0000"/>
                </a:solidFill>
                <a:sym typeface="Wingdings" panose="05000000000000000000" pitchFamily="2" charset="2"/>
              </a:rPr>
              <a:t>	pip install torch==2.5.1  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lang="en-US" altLang="zh-CN" sz="2200" b="1" dirty="0">
                <a:solidFill>
                  <a:schemeClr val="accent1">
                    <a:lumMod val="75000"/>
                  </a:schemeClr>
                </a:solidFill>
                <a:sym typeface="Wingdings" panose="05000000000000000000" pitchFamily="2" charset="2"/>
              </a:rPr>
              <a:t>3.    </a:t>
            </a:r>
            <a:r>
              <a:rPr lang="en-US" altLang="zh-CN" sz="2200" dirty="0">
                <a:sym typeface="Wingdings" panose="05000000000000000000" pitchFamily="2" charset="2"/>
              </a:rPr>
              <a:t>SFT</a:t>
            </a:r>
            <a:r>
              <a:rPr lang="zh-CN" altLang="en-US" sz="2200" dirty="0">
                <a:sym typeface="Wingdings" panose="05000000000000000000" pitchFamily="2" charset="2"/>
              </a:rPr>
              <a:t>微调训练</a:t>
            </a:r>
            <a:endParaRPr lang="en-US" altLang="zh-CN" sz="2200" dirty="0">
              <a:sym typeface="Wingdings" panose="05000000000000000000" pitchFamily="2" charset="2"/>
            </a:endParaRPr>
          </a:p>
          <a:p>
            <a:pPr marL="457200" lvl="1" indent="0">
              <a:lnSpc>
                <a:spcPct val="110000"/>
              </a:lnSpc>
              <a:buNone/>
            </a:pPr>
            <a:r>
              <a:rPr lang="en-US" altLang="zh-CN" sz="1900" b="1" i="1" dirty="0">
                <a:solidFill>
                  <a:srgbClr val="FF0000"/>
                </a:solidFill>
              </a:rPr>
              <a:t>	</a:t>
            </a:r>
            <a:r>
              <a:rPr lang="zh-CN" altLang="zh-CN" sz="1900" b="1" i="1" dirty="0">
                <a:solidFill>
                  <a:srgbClr val="FF0000"/>
                </a:solidFill>
              </a:rPr>
              <a:t>cd /data/yekaiyang/zjx/20260617/assignment_A</a:t>
            </a:r>
            <a:endParaRPr lang="en-US" altLang="zh-CN" sz="1900" b="1" i="1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marL="457200" lvl="1" indent="0">
              <a:lnSpc>
                <a:spcPct val="110000"/>
              </a:lnSpc>
              <a:buNone/>
            </a:pPr>
            <a:r>
              <a:rPr lang="en-US" altLang="zh-CN" sz="1900" b="1" i="1" dirty="0">
                <a:solidFill>
                  <a:srgbClr val="FF0000"/>
                </a:solidFill>
                <a:sym typeface="Wingdings" panose="05000000000000000000" pitchFamily="2" charset="2"/>
              </a:rPr>
              <a:t>	bash sft/scripts/train.sh</a:t>
            </a:r>
          </a:p>
          <a:p>
            <a:pPr marL="914400" lvl="1" indent="-457200">
              <a:lnSpc>
                <a:spcPct val="110000"/>
              </a:lnSpc>
              <a:buAutoNum type="arabicPeriod" startAt="4"/>
            </a:pPr>
            <a:r>
              <a:rPr lang="zh-CN" altLang="en-US" sz="2200" dirty="0">
                <a:sym typeface="Wingdings" panose="05000000000000000000" pitchFamily="2" charset="2"/>
              </a:rPr>
              <a:t>运行结束后，</a:t>
            </a:r>
            <a:r>
              <a:rPr lang="en-US" altLang="zh-CN" sz="2200" dirty="0">
                <a:sym typeface="Wingdings" panose="05000000000000000000" pitchFamily="2" charset="2"/>
              </a:rPr>
              <a:t>output/</a:t>
            </a:r>
            <a:r>
              <a:rPr lang="zh-CN" altLang="en-US" sz="2200" dirty="0">
                <a:sym typeface="Wingdings" panose="05000000000000000000" pitchFamily="2" charset="2"/>
              </a:rPr>
              <a:t>目录会生成训练后的模型，</a:t>
            </a:r>
            <a:r>
              <a:rPr lang="en-US" altLang="zh-CN" sz="2200" dirty="0">
                <a:sym typeface="Wingdings" panose="05000000000000000000" pitchFamily="2" charset="2"/>
              </a:rPr>
              <a:t>Eg:checkpoint-200</a:t>
            </a:r>
            <a:r>
              <a:rPr lang="zh-CN" altLang="en-US" sz="2200" dirty="0">
                <a:sym typeface="Wingdings" panose="05000000000000000000" pitchFamily="2" charset="2"/>
              </a:rPr>
              <a:t>，以及日志记录</a:t>
            </a:r>
            <a:r>
              <a:rPr lang="en-US" altLang="zh-CN" sz="2200" dirty="0" err="1">
                <a:sym typeface="Wingdings" panose="05000000000000000000" pitchFamily="2" charset="2"/>
              </a:rPr>
              <a:t>trainer_log.jsonl</a:t>
            </a:r>
            <a:endParaRPr lang="en-US" altLang="zh-CN" sz="2200" dirty="0">
              <a:sym typeface="Wingdings" panose="05000000000000000000" pitchFamily="2" charset="2"/>
            </a:endParaRPr>
          </a:p>
          <a:p>
            <a:pPr marL="914400" lvl="1" indent="-457200">
              <a:lnSpc>
                <a:spcPct val="110000"/>
              </a:lnSpc>
              <a:buAutoNum type="arabicPeriod" startAt="4"/>
            </a:pPr>
            <a:r>
              <a:rPr lang="en-US" altLang="zh-CN" sz="2200" dirty="0">
                <a:sym typeface="Wingdings" panose="05000000000000000000" pitchFamily="2" charset="2"/>
              </a:rPr>
              <a:t>SFT</a:t>
            </a:r>
            <a:r>
              <a:rPr lang="zh-CN" altLang="en-US" sz="2200" dirty="0">
                <a:sym typeface="Wingdings" panose="05000000000000000000" pitchFamily="2" charset="2"/>
              </a:rPr>
              <a:t>批量生成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lang="en-US" altLang="zh-CN" sz="1900" b="1" i="1" dirty="0">
                <a:solidFill>
                  <a:srgbClr val="FF0000"/>
                </a:solidFill>
                <a:sym typeface="Wingdings" panose="05000000000000000000" pitchFamily="2" charset="2"/>
              </a:rPr>
              <a:t>	MODEL_PATH=</a:t>
            </a:r>
            <a:r>
              <a:rPr lang="en-US" altLang="zh-CN" sz="1900" b="1" i="1" dirty="0" err="1">
                <a:solidFill>
                  <a:srgbClr val="FF0000"/>
                </a:solidFill>
                <a:sym typeface="Wingdings" panose="05000000000000000000" pitchFamily="2" charset="2"/>
              </a:rPr>
              <a:t>your_model_path</a:t>
            </a:r>
            <a:r>
              <a:rPr lang="en-US" altLang="zh-CN" sz="1900" b="1" i="1" dirty="0">
                <a:solidFill>
                  <a:srgbClr val="FF0000"/>
                </a:solidFill>
                <a:sym typeface="Wingdings" panose="05000000000000000000" pitchFamily="2" charset="2"/>
              </a:rPr>
              <a:t>/bash sft/scripts/predict_full.sh</a:t>
            </a:r>
          </a:p>
          <a:p>
            <a:pPr marL="914400" lvl="1" indent="-457200">
              <a:buAutoNum type="arabicPeriod" startAt="4"/>
            </a:pPr>
            <a:endParaRPr lang="en-US" altLang="zh-CN" sz="2200" b="1" dirty="0">
              <a:sym typeface="Wingdings" panose="05000000000000000000" pitchFamily="2" charset="2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610187E-91FE-B844-16A3-0CB75EBD2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168BB-329B-4EC0-BBCE-DC6BA5995A49}" type="slidenum">
              <a:rPr lang="zh-CN" altLang="en-US" smtClean="0"/>
              <a:t>15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140524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754FC-66A9-7A91-5642-996CD58E7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401656-69BF-61AF-0817-76644947F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A2: SFT</a:t>
            </a:r>
            <a:r>
              <a:rPr lang="zh-CN" altLang="en-US" dirty="0"/>
              <a:t>微调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8B8D22-30FA-4A3C-3489-658FCA7AAB0F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03858" y="1047663"/>
            <a:ext cx="11433100" cy="5335883"/>
          </a:xfrm>
        </p:spPr>
        <p:txBody>
          <a:bodyPr>
            <a:noAutofit/>
          </a:bodyPr>
          <a:lstStyle/>
          <a:p>
            <a:pPr>
              <a:lnSpc>
                <a:spcPct val="14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/>
              <a:t>具体步骤：</a:t>
            </a:r>
            <a:endParaRPr lang="en-US" altLang="zh-CN" sz="2400" b="1" dirty="0"/>
          </a:p>
          <a:p>
            <a:pPr marL="914400" lvl="1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zh-CN" altLang="zh-CN" sz="2200" dirty="0"/>
              <a:t>评测代码生成结果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200" b="1" dirty="0"/>
              <a:t>	</a:t>
            </a:r>
            <a:r>
              <a:rPr lang="en-US" altLang="zh-CN" sz="1900" b="1" i="1" dirty="0">
                <a:solidFill>
                  <a:srgbClr val="FF0000"/>
                </a:solidFill>
              </a:rPr>
              <a:t>bash sft/scripts/evaluate_full.sh</a:t>
            </a:r>
            <a:endParaRPr lang="zh-CN" altLang="zh-CN" sz="1900" b="1" i="1" dirty="0">
              <a:solidFill>
                <a:srgbClr val="FF0000"/>
              </a:solidFill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 startAt="7"/>
            </a:pPr>
            <a:r>
              <a:rPr lang="zh-CN" altLang="zh-CN" sz="2200" dirty="0"/>
              <a:t>运行结束后，</a:t>
            </a:r>
            <a:r>
              <a:rPr lang="en-US" altLang="zh-CN" sz="2200" dirty="0" err="1"/>
              <a:t>sft</a:t>
            </a:r>
            <a:r>
              <a:rPr lang="en-US" altLang="zh-CN" sz="2200" dirty="0"/>
              <a:t>/outputs/qwen15_code_full_predict/</a:t>
            </a:r>
            <a:r>
              <a:rPr lang="zh-CN" altLang="zh-CN" sz="2200" dirty="0"/>
              <a:t>目录会生成：</a:t>
            </a:r>
            <a:r>
              <a:rPr lang="en-US" altLang="zh-CN" sz="2200" dirty="0" err="1"/>
              <a:t>generated_predictions.jsonl</a:t>
            </a:r>
            <a:r>
              <a:rPr lang="zh-CN" altLang="zh-CN" sz="2200" dirty="0"/>
              <a:t>：模型对测试集每条样本生成的预测结果文件、</a:t>
            </a:r>
            <a:r>
              <a:rPr lang="en-US" altLang="zh-CN" sz="2200" dirty="0" err="1"/>
              <a:t>predict_results.json</a:t>
            </a:r>
            <a:r>
              <a:rPr lang="zh-CN" altLang="zh-CN" sz="2200" dirty="0"/>
              <a:t>：推理阶段的指标汇总文件、</a:t>
            </a:r>
            <a:r>
              <a:rPr lang="en-US" altLang="zh-CN" sz="2200" dirty="0" err="1"/>
              <a:t>all_results.json</a:t>
            </a:r>
            <a:r>
              <a:rPr lang="zh-CN" altLang="zh-CN" sz="2200" dirty="0"/>
              <a:t>：预测结果的总览统计文件、</a:t>
            </a:r>
            <a:r>
              <a:rPr lang="en-US" altLang="zh-CN" sz="2200" dirty="0" err="1"/>
              <a:t>trainer_log.jsonl</a:t>
            </a:r>
            <a:r>
              <a:rPr lang="zh-CN" altLang="zh-CN" sz="2200" dirty="0"/>
              <a:t>：日志记录</a:t>
            </a:r>
            <a:endParaRPr lang="en-US" altLang="zh-CN" sz="22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200" dirty="0"/>
              <a:t>	</a:t>
            </a:r>
            <a:r>
              <a:rPr lang="en-US" altLang="zh-CN" sz="2200" dirty="0" err="1"/>
              <a:t>sft</a:t>
            </a:r>
            <a:r>
              <a:rPr lang="en-US" altLang="zh-CN" sz="2200" dirty="0"/>
              <a:t>/outputs/ </a:t>
            </a:r>
            <a:r>
              <a:rPr lang="en-US" altLang="zh-CN" sz="2200" dirty="0" err="1"/>
              <a:t>eval_mbpp</a:t>
            </a:r>
            <a:r>
              <a:rPr lang="en-US" altLang="zh-CN" sz="2200" dirty="0"/>
              <a:t>/</a:t>
            </a:r>
            <a:r>
              <a:rPr lang="zh-CN" altLang="zh-CN" sz="2200" dirty="0"/>
              <a:t>目录会生成：</a:t>
            </a:r>
            <a:r>
              <a:rPr lang="en-US" altLang="zh-CN" sz="2200" dirty="0" err="1"/>
              <a:t>mbpp_metrics.json</a:t>
            </a:r>
            <a:r>
              <a:rPr lang="zh-CN" altLang="zh-CN" sz="2200" dirty="0"/>
              <a:t>：</a:t>
            </a:r>
            <a:r>
              <a:rPr lang="en-US" altLang="zh-CN" sz="2200" dirty="0"/>
              <a:t>MBPP </a:t>
            </a:r>
            <a:r>
              <a:rPr lang="zh-CN" altLang="zh-CN" sz="2200" dirty="0"/>
              <a:t>测试集的</a:t>
            </a:r>
            <a:r>
              <a:rPr lang="en-US" altLang="zh-CN" sz="2200" dirty="0"/>
              <a:t>	</a:t>
            </a:r>
            <a:r>
              <a:rPr lang="zh-CN" altLang="zh-CN" sz="2200" dirty="0"/>
              <a:t>最终评测指标文件、</a:t>
            </a:r>
            <a:r>
              <a:rPr lang="en-US" altLang="zh-CN" sz="2200" dirty="0" err="1"/>
              <a:t>mbpp_cases.jsonl</a:t>
            </a:r>
            <a:r>
              <a:rPr lang="zh-CN" altLang="zh-CN" sz="2200" dirty="0"/>
              <a:t>：每条样本的逐项评测详情文件</a:t>
            </a:r>
          </a:p>
          <a:p>
            <a:pPr marL="0" indent="0">
              <a:buNone/>
            </a:pPr>
            <a:endParaRPr lang="zh-CN" altLang="en-US" sz="2400" b="1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9779D2A-C8BE-57B2-28A9-D55C6B6B1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168BB-329B-4EC0-BBCE-DC6BA5995A49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63529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D402F-7588-CB58-79C5-34FBB5AB8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1CB10D-D73E-520E-7D4A-6F6345CCF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A2: SFT</a:t>
            </a:r>
            <a:r>
              <a:rPr lang="zh-CN" altLang="en-US" dirty="0"/>
              <a:t>微调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FC51D3B-73FB-570C-499A-A5DE67963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168BB-329B-4EC0-BBCE-DC6BA5995A49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404C7D4B-0AA4-3585-B0EA-3C800CCA0AFF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70496" y="1284925"/>
            <a:ext cx="9086303" cy="487813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2400" b="1" dirty="0">
                <a:sym typeface="Wingdings" panose="05000000000000000000" pitchFamily="2" charset="2"/>
              </a:rPr>
              <a:t>  测试数据下载链接</a:t>
            </a:r>
            <a:endParaRPr lang="en-US" altLang="zh-CN" sz="2400" b="1" dirty="0">
              <a:sym typeface="Wingdings" panose="05000000000000000000" pitchFamily="2" charset="2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000" u="sng" dirty="0">
                <a:solidFill>
                  <a:srgbClr val="3333B3"/>
                </a:solidFill>
              </a:rPr>
              <a:t>https://huggingface.co/datasets/google-research-datasets/mbpp</a:t>
            </a:r>
            <a:endParaRPr lang="en-US" altLang="zh-CN" sz="2000" u="sng" dirty="0">
              <a:solidFill>
                <a:srgbClr val="3333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897FA0F-2DBB-C70A-C18A-C1001F5D70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651" y="2409421"/>
            <a:ext cx="8346094" cy="3797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6968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C34A3-3318-123D-F50D-7BB6D8390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15EFD5-13F2-A52D-E448-8FAE23AB7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A2: SFT</a:t>
            </a:r>
            <a:r>
              <a:rPr lang="zh-CN" altLang="en-US" dirty="0"/>
              <a:t>微调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02598DD-23A1-8617-C2CF-8E829EE62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168BB-329B-4EC0-BBCE-DC6BA5995A49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EDA30741-C7E5-4B90-0C84-6E54F4B5D760}"/>
              </a:ext>
            </a:extLst>
          </p:cNvPr>
          <p:cNvSpPr txBox="1"/>
          <p:nvPr/>
        </p:nvSpPr>
        <p:spPr>
          <a:xfrm>
            <a:off x="403860" y="1087120"/>
            <a:ext cx="7289959" cy="106489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rgbClr val="3333B3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rgbClr val="3333B3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rgbClr val="3333B3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rgbClr val="3333B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rgbClr val="3333B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zh-CN" altLang="en-US" sz="2400" b="1" dirty="0">
                <a:sym typeface="Wingdings" panose="05000000000000000000" pitchFamily="2" charset="2"/>
              </a:rPr>
              <a:t>  代码运行图例：</a:t>
            </a:r>
            <a:endParaRPr lang="en-US" altLang="zh-CN" sz="2400" b="1" dirty="0">
              <a:sym typeface="Wingdings" panose="05000000000000000000" pitchFamily="2" charset="2"/>
            </a:endParaRPr>
          </a:p>
          <a:p>
            <a:pPr marL="971550" lvl="1" indent="-514350">
              <a:buFont typeface="+mj-lt"/>
              <a:buAutoNum type="arabicPeriod"/>
            </a:pPr>
            <a:r>
              <a:rPr lang="zh-CN" altLang="en-US" b="1" dirty="0">
                <a:sym typeface="Wingdings" panose="05000000000000000000" pitchFamily="2" charset="2"/>
              </a:rPr>
              <a:t>该输出说明脚本已进入工程目录，并成功识别 </a:t>
            </a:r>
            <a:r>
              <a:rPr lang="en-US" altLang="zh-CN" b="1" dirty="0">
                <a:sym typeface="Wingdings" panose="05000000000000000000" pitchFamily="2" charset="2"/>
              </a:rPr>
              <a:t>GPU</a:t>
            </a:r>
            <a:endParaRPr lang="zh-CN" altLang="en-US" sz="2400" b="1" dirty="0">
              <a:sym typeface="Wingdings" panose="05000000000000000000" pitchFamily="2" charset="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7316789-338B-4F48-7DBB-D027FF8BA3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58" y="2123440"/>
            <a:ext cx="11039475" cy="277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223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7AB6B7-F4F3-7D0B-11F8-E099CCA45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A2: SFT</a:t>
            </a:r>
            <a:r>
              <a:rPr lang="zh-CN" altLang="en-US" dirty="0"/>
              <a:t>微调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E2A4542F-0C4D-A8A1-CBD3-2B27A16A9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168BB-329B-4EC0-BBCE-DC6BA5995A49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1483E716-CBA9-1135-70F2-182AC5B24F43}"/>
              </a:ext>
            </a:extLst>
          </p:cNvPr>
          <p:cNvSpPr txBox="1"/>
          <p:nvPr/>
        </p:nvSpPr>
        <p:spPr>
          <a:xfrm>
            <a:off x="403860" y="1018818"/>
            <a:ext cx="6175375" cy="10648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rgbClr val="3333B3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rgbClr val="3333B3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rgbClr val="3333B3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rgbClr val="3333B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rgbClr val="3333B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zh-CN" altLang="en-US" sz="2400" b="1" dirty="0">
                <a:sym typeface="Wingdings" panose="05000000000000000000" pitchFamily="2" charset="2"/>
              </a:rPr>
              <a:t>  代码运行图例：</a:t>
            </a:r>
          </a:p>
          <a:p>
            <a:pPr marL="971550" lvl="1" indent="-514350">
              <a:buFont typeface="+mj-lt"/>
              <a:buAutoNum type="arabicPeriod" startAt="2"/>
            </a:pPr>
            <a:r>
              <a:rPr lang="zh-CN" altLang="en-US" sz="1900" b="1" dirty="0">
                <a:sym typeface="Wingdings" panose="05000000000000000000" pitchFamily="2" charset="2"/>
              </a:rPr>
              <a:t>训练开始</a:t>
            </a:r>
          </a:p>
        </p:txBody>
      </p:sp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5E6DE6A3-7C88-DDF7-CA09-C3665822FC02}"/>
              </a:ext>
            </a:extLst>
          </p:cNvPr>
          <p:cNvSpPr txBox="1"/>
          <p:nvPr/>
        </p:nvSpPr>
        <p:spPr>
          <a:xfrm>
            <a:off x="403858" y="3698318"/>
            <a:ext cx="4873625" cy="5645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rgbClr val="3333B3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rgbClr val="3333B3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rgbClr val="3333B3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rgbClr val="3333B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rgbClr val="3333B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71550" lvl="1" indent="-514350">
              <a:buFont typeface="+mj-lt"/>
              <a:buAutoNum type="arabicPeriod" startAt="3"/>
            </a:pPr>
            <a:r>
              <a:rPr lang="zh-CN" altLang="en-US" sz="1900" b="1" dirty="0">
                <a:sym typeface="Wingdings" panose="05000000000000000000" pitchFamily="2" charset="2"/>
              </a:rPr>
              <a:t>训练</a:t>
            </a:r>
            <a:r>
              <a:rPr lang="en-US" altLang="zh-CN" sz="1900" b="1" dirty="0">
                <a:sym typeface="Wingdings" panose="05000000000000000000" pitchFamily="2" charset="2"/>
              </a:rPr>
              <a:t>loss</a:t>
            </a:r>
            <a:r>
              <a:rPr lang="zh-CN" altLang="en-US" sz="1900" b="1" dirty="0">
                <a:sym typeface="Wingdings" panose="05000000000000000000" pitchFamily="2" charset="2"/>
              </a:rPr>
              <a:t>，验证评估与模型保存</a:t>
            </a:r>
          </a:p>
          <a:p>
            <a:pPr marL="971550" lvl="1" indent="-514350">
              <a:buFont typeface="+mj-lt"/>
              <a:buAutoNum type="arabicPeriod" startAt="3"/>
            </a:pPr>
            <a:endParaRPr lang="zh-CN" altLang="en-US" sz="1900" b="1" dirty="0">
              <a:sym typeface="Wingdings" panose="05000000000000000000" pitchFamily="2" charset="2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7EB3489C-2466-C3D8-2412-E44780300C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8346" y="1936586"/>
            <a:ext cx="8300195" cy="176173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9F1389B-517B-EA2B-E82D-F98438C994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7247" y="4161924"/>
            <a:ext cx="5031327" cy="2500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9949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A28843-44AC-7530-17D0-2D81008CE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A2: SFT</a:t>
            </a:r>
            <a:r>
              <a:rPr lang="zh-CN" altLang="en-US" dirty="0"/>
              <a:t>微调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551A98D-034E-0A0E-F2C8-8811F0749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168BB-329B-4EC0-BBCE-DC6BA5995A49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3D60F79E-4E5D-67BC-0CEC-A52C5AD59825}"/>
              </a:ext>
            </a:extLst>
          </p:cNvPr>
          <p:cNvSpPr txBox="1"/>
          <p:nvPr/>
        </p:nvSpPr>
        <p:spPr>
          <a:xfrm>
            <a:off x="340773" y="869548"/>
            <a:ext cx="6175375" cy="10648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rgbClr val="3333B3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rgbClr val="3333B3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rgbClr val="3333B3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rgbClr val="3333B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rgbClr val="3333B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zh-CN" altLang="en-US" sz="2400" b="1" dirty="0">
                <a:sym typeface="Wingdings" panose="05000000000000000000" pitchFamily="2" charset="2"/>
              </a:rPr>
              <a:t>  代码运行图例：</a:t>
            </a:r>
            <a:endParaRPr lang="en-US" altLang="zh-CN" sz="2400" b="1" dirty="0">
              <a:sym typeface="Wingdings" panose="05000000000000000000" pitchFamily="2" charset="2"/>
            </a:endParaRPr>
          </a:p>
          <a:p>
            <a:pPr marL="971550" lvl="1" indent="-514350">
              <a:buFont typeface="+mj-lt"/>
              <a:buAutoNum type="arabicPeriod" startAt="4"/>
            </a:pPr>
            <a:r>
              <a:rPr lang="zh-CN" altLang="en-US" b="1" dirty="0">
                <a:sym typeface="Wingdings" panose="05000000000000000000" pitchFamily="2" charset="2"/>
              </a:rPr>
              <a:t>测试集批量生成</a:t>
            </a:r>
            <a:endParaRPr lang="zh-CN" altLang="en-US" sz="2400" b="1" dirty="0">
              <a:sym typeface="Wingdings" panose="05000000000000000000" pitchFamily="2" charset="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60C23C6-4019-0BEA-BD02-537785B0C5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3283" y="2077341"/>
            <a:ext cx="7233574" cy="4412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8662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98E556-E075-041E-7C70-327FCCF13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A2: SFT</a:t>
            </a:r>
            <a:r>
              <a:rPr lang="zh-CN" altLang="en-US" dirty="0"/>
              <a:t>微调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09765F7-063F-80A6-AAD8-808D88158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168BB-329B-4EC0-BBCE-DC6BA5995A49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388833E6-4B2C-EF8B-6964-1672F986154C}"/>
              </a:ext>
            </a:extLst>
          </p:cNvPr>
          <p:cNvSpPr txBox="1"/>
          <p:nvPr/>
        </p:nvSpPr>
        <p:spPr>
          <a:xfrm>
            <a:off x="645243" y="1551265"/>
            <a:ext cx="6175375" cy="10648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rgbClr val="3333B3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rgbClr val="3333B3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rgbClr val="3333B3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rgbClr val="3333B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rgbClr val="3333B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71550" lvl="1" indent="-514350">
              <a:buFont typeface="+mj-lt"/>
              <a:buAutoNum type="arabicPeriod" startAt="5"/>
            </a:pPr>
            <a:r>
              <a:rPr lang="zh-CN" altLang="en-US" sz="2400" b="1" dirty="0">
                <a:sym typeface="Wingdings" panose="05000000000000000000" pitchFamily="2" charset="2"/>
              </a:rPr>
              <a:t>评测代码生成结果</a:t>
            </a:r>
            <a:endParaRPr lang="en-US" altLang="zh-CN" sz="2400" b="1" dirty="0">
              <a:sym typeface="Wingdings" panose="05000000000000000000" pitchFamily="2" charset="2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3C3C74FF-DAD5-9DFD-8272-9F4512470022}"/>
              </a:ext>
            </a:extLst>
          </p:cNvPr>
          <p:cNvSpPr txBox="1"/>
          <p:nvPr/>
        </p:nvSpPr>
        <p:spPr>
          <a:xfrm>
            <a:off x="403860" y="1018818"/>
            <a:ext cx="6175375" cy="10648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rgbClr val="3333B3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rgbClr val="3333B3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rgbClr val="3333B3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rgbClr val="3333B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rgbClr val="3333B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zh-CN" altLang="en-US" sz="2400" b="1" dirty="0">
                <a:sym typeface="Wingdings" panose="05000000000000000000" pitchFamily="2" charset="2"/>
              </a:rPr>
              <a:t>  代码运行图例：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1A73B11A-2EBC-05AE-FED6-F52594EFE2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8270" y="2286104"/>
            <a:ext cx="8934450" cy="3911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148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E6D55-4798-4B49-EE17-B3D8756A9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7CEF57-4D8F-06E5-6C27-6A9FED344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A2: SFT</a:t>
            </a:r>
            <a:r>
              <a:rPr lang="zh-CN" altLang="en-US" dirty="0"/>
              <a:t>微调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8F00DF4-10EB-7E40-4CFA-517FFE2BC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168BB-329B-4EC0-BBCE-DC6BA5995A49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871522A2-D7D1-3A8C-C069-A7DE51B067A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248177" y="1057173"/>
            <a:ext cx="11780049" cy="4377469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2400" b="1" dirty="0"/>
              <a:t>  </a:t>
            </a:r>
            <a:r>
              <a:rPr lang="zh-CN" altLang="en-US" sz="2400" b="1" dirty="0">
                <a:sym typeface="Wingdings" panose="05000000000000000000" pitchFamily="2" charset="2"/>
              </a:rPr>
              <a:t>进阶要求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sym typeface="Wingdings" panose="05000000000000000000" pitchFamily="2" charset="2"/>
              </a:rPr>
              <a:t>将当前 </a:t>
            </a:r>
            <a:r>
              <a:rPr lang="en-US" altLang="zh-CN" sz="2000" dirty="0">
                <a:sym typeface="Wingdings" panose="05000000000000000000" pitchFamily="2" charset="2"/>
              </a:rPr>
              <a:t>full SFT </a:t>
            </a:r>
            <a:r>
              <a:rPr lang="zh-CN" altLang="en-US" sz="2000" dirty="0">
                <a:sym typeface="Wingdings" panose="05000000000000000000" pitchFamily="2" charset="2"/>
              </a:rPr>
              <a:t>改为 </a:t>
            </a:r>
            <a:r>
              <a:rPr lang="en-US" altLang="zh-CN" sz="2000" dirty="0" err="1">
                <a:sym typeface="Wingdings" panose="05000000000000000000" pitchFamily="2" charset="2"/>
              </a:rPr>
              <a:t>LoRA</a:t>
            </a:r>
            <a:r>
              <a:rPr lang="en-US" altLang="zh-CN" sz="2000" dirty="0">
                <a:sym typeface="Wingdings" panose="05000000000000000000" pitchFamily="2" charset="2"/>
              </a:rPr>
              <a:t> / </a:t>
            </a:r>
            <a:r>
              <a:rPr lang="en-US" altLang="zh-CN" sz="2000" dirty="0" err="1">
                <a:sym typeface="Wingdings" panose="05000000000000000000" pitchFamily="2" charset="2"/>
              </a:rPr>
              <a:t>QLoRA</a:t>
            </a:r>
            <a:r>
              <a:rPr lang="en-US" altLang="zh-CN" sz="2000" dirty="0">
                <a:sym typeface="Wingdings" panose="05000000000000000000" pitchFamily="2" charset="2"/>
              </a:rPr>
              <a:t> </a:t>
            </a:r>
            <a:r>
              <a:rPr lang="zh-CN" altLang="en-US" sz="2000" dirty="0">
                <a:sym typeface="Wingdings" panose="05000000000000000000" pitchFamily="2" charset="2"/>
              </a:rPr>
              <a:t>微调，配置 </a:t>
            </a:r>
            <a:r>
              <a:rPr lang="en-US" altLang="zh-CN" sz="2000" dirty="0" err="1">
                <a:sym typeface="Wingdings" panose="05000000000000000000" pitchFamily="2" charset="2"/>
              </a:rPr>
              <a:t>lora_rank</a:t>
            </a:r>
            <a:r>
              <a:rPr lang="zh-CN" altLang="en-US" sz="2000" dirty="0">
                <a:sym typeface="Wingdings" panose="05000000000000000000" pitchFamily="2" charset="2"/>
              </a:rPr>
              <a:t>、</a:t>
            </a:r>
            <a:r>
              <a:rPr lang="en-US" altLang="zh-CN" sz="2000" dirty="0" err="1">
                <a:sym typeface="Wingdings" panose="05000000000000000000" pitchFamily="2" charset="2"/>
              </a:rPr>
              <a:t>lora_alpha</a:t>
            </a:r>
            <a:r>
              <a:rPr lang="zh-CN" altLang="en-US" sz="2000" dirty="0">
                <a:sym typeface="Wingdings" panose="05000000000000000000" pitchFamily="2" charset="2"/>
              </a:rPr>
              <a:t>、</a:t>
            </a:r>
            <a:r>
              <a:rPr lang="en-US" altLang="zh-CN" sz="2000" dirty="0" err="1">
                <a:sym typeface="Wingdings" panose="05000000000000000000" pitchFamily="2" charset="2"/>
              </a:rPr>
              <a:t>lora_dropout</a:t>
            </a:r>
            <a:r>
              <a:rPr lang="zh-CN" altLang="en-US" sz="2000" dirty="0">
                <a:sym typeface="Wingdings" panose="05000000000000000000" pitchFamily="2" charset="2"/>
              </a:rPr>
              <a:t>、</a:t>
            </a:r>
            <a:r>
              <a:rPr lang="en-US" altLang="zh-CN" sz="2000" dirty="0" err="1">
                <a:sym typeface="Wingdings" panose="05000000000000000000" pitchFamily="2" charset="2"/>
              </a:rPr>
              <a:t>lora_target</a:t>
            </a:r>
            <a:r>
              <a:rPr lang="zh-CN" altLang="en-US" sz="2000" dirty="0">
                <a:sym typeface="Wingdings" panose="05000000000000000000" pitchFamily="2" charset="2"/>
              </a:rPr>
              <a:t>、</a:t>
            </a:r>
            <a:r>
              <a:rPr lang="en-US" altLang="zh-CN" sz="2000" dirty="0" err="1">
                <a:sym typeface="Wingdings" panose="05000000000000000000" pitchFamily="2" charset="2"/>
              </a:rPr>
              <a:t>quantization_bit</a:t>
            </a:r>
            <a:r>
              <a:rPr lang="en-US" altLang="zh-CN" sz="2000" dirty="0">
                <a:sym typeface="Wingdings" panose="05000000000000000000" pitchFamily="2" charset="2"/>
              </a:rPr>
              <a:t> </a:t>
            </a:r>
            <a:r>
              <a:rPr lang="zh-CN" altLang="en-US" sz="2000" dirty="0">
                <a:sym typeface="Wingdings" panose="05000000000000000000" pitchFamily="2" charset="2"/>
              </a:rPr>
              <a:t>等参数，并记录显存占用、训练速度、参数量和最终测试结果。</a:t>
            </a:r>
            <a:endParaRPr lang="en-US" altLang="zh-CN" sz="2000" dirty="0">
              <a:sym typeface="Wingdings" panose="05000000000000000000" pitchFamily="2" charset="2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sym typeface="Wingdings" panose="05000000000000000000" pitchFamily="2" charset="2"/>
              </a:rPr>
              <a:t>设计 </a:t>
            </a:r>
            <a:r>
              <a:rPr lang="en-US" altLang="zh-CN" sz="2000" dirty="0" err="1">
                <a:sym typeface="Wingdings" panose="05000000000000000000" pitchFamily="2" charset="2"/>
              </a:rPr>
              <a:t>LoRA</a:t>
            </a:r>
            <a:r>
              <a:rPr lang="en-US" altLang="zh-CN" sz="2000" dirty="0">
                <a:sym typeface="Wingdings" panose="05000000000000000000" pitchFamily="2" charset="2"/>
              </a:rPr>
              <a:t> </a:t>
            </a:r>
            <a:r>
              <a:rPr lang="zh-CN" altLang="en-US" sz="2000" dirty="0">
                <a:sym typeface="Wingdings" panose="05000000000000000000" pitchFamily="2" charset="2"/>
              </a:rPr>
              <a:t>超参数对比实验，分别调整 </a:t>
            </a:r>
            <a:r>
              <a:rPr lang="en-US" altLang="zh-CN" sz="2000" dirty="0" err="1">
                <a:sym typeface="Wingdings" panose="05000000000000000000" pitchFamily="2" charset="2"/>
              </a:rPr>
              <a:t>lora_rank</a:t>
            </a:r>
            <a:r>
              <a:rPr lang="zh-CN" altLang="en-US" sz="2000" dirty="0">
                <a:sym typeface="Wingdings" panose="05000000000000000000" pitchFamily="2" charset="2"/>
              </a:rPr>
              <a:t>、</a:t>
            </a:r>
            <a:r>
              <a:rPr lang="en-US" altLang="zh-CN" sz="2000" dirty="0" err="1">
                <a:sym typeface="Wingdings" panose="05000000000000000000" pitchFamily="2" charset="2"/>
              </a:rPr>
              <a:t>lora_alpha</a:t>
            </a:r>
            <a:r>
              <a:rPr lang="zh-CN" altLang="en-US" sz="2000" dirty="0">
                <a:sym typeface="Wingdings" panose="05000000000000000000" pitchFamily="2" charset="2"/>
              </a:rPr>
              <a:t>、</a:t>
            </a:r>
            <a:r>
              <a:rPr lang="en-US" altLang="zh-CN" sz="2000" dirty="0" err="1">
                <a:sym typeface="Wingdings" panose="05000000000000000000" pitchFamily="2" charset="2"/>
              </a:rPr>
              <a:t>learning_rate</a:t>
            </a:r>
            <a:r>
              <a:rPr lang="zh-CN" altLang="en-US" sz="2000" dirty="0">
                <a:sym typeface="Wingdings" panose="05000000000000000000" pitchFamily="2" charset="2"/>
              </a:rPr>
              <a:t>、</a:t>
            </a:r>
            <a:r>
              <a:rPr lang="en-US" altLang="zh-CN" sz="2000" dirty="0">
                <a:sym typeface="Wingdings" panose="05000000000000000000" pitchFamily="2" charset="2"/>
              </a:rPr>
              <a:t>epoch</a:t>
            </a:r>
            <a:r>
              <a:rPr lang="zh-CN" altLang="en-US" sz="2000" dirty="0">
                <a:sym typeface="Wingdings" panose="05000000000000000000" pitchFamily="2" charset="2"/>
              </a:rPr>
              <a:t>等训练超参数，比较不同配置下模型准确率。</a:t>
            </a:r>
            <a:endParaRPr lang="en-US" altLang="zh-CN" sz="2000" dirty="0">
              <a:sym typeface="Wingdings" panose="05000000000000000000" pitchFamily="2" charset="2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sym typeface="Wingdings" panose="05000000000000000000" pitchFamily="2" charset="2"/>
              </a:rPr>
              <a:t>针对代码任务设计错误分析模块，找到模型输出中典型的错误类型，例如语法错误、函数名不匹配、输入输出格式错误、边界条件错误、运行超时和测试用例未通过等，生成分析报告。</a:t>
            </a:r>
            <a:endParaRPr lang="en-US" altLang="zh-CN" sz="2000" dirty="0">
              <a:sym typeface="Wingdings" panose="05000000000000000000" pitchFamily="2" charset="2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sym typeface="Wingdings" panose="05000000000000000000" pitchFamily="2" charset="2"/>
              </a:rPr>
              <a:t>设计代码修复式 </a:t>
            </a:r>
            <a:r>
              <a:rPr lang="en-US" altLang="zh-CN" sz="2000" dirty="0">
                <a:sym typeface="Wingdings" panose="05000000000000000000" pitchFamily="2" charset="2"/>
              </a:rPr>
              <a:t>SFT </a:t>
            </a:r>
            <a:r>
              <a:rPr lang="zh-CN" altLang="en-US" sz="2000" dirty="0">
                <a:sym typeface="Wingdings" panose="05000000000000000000" pitchFamily="2" charset="2"/>
              </a:rPr>
              <a:t>任务，将样本组织为“题目描述 </a:t>
            </a:r>
            <a:r>
              <a:rPr lang="en-US" altLang="zh-CN" sz="2000" dirty="0">
                <a:sym typeface="Wingdings" panose="05000000000000000000" pitchFamily="2" charset="2"/>
              </a:rPr>
              <a:t>+ </a:t>
            </a:r>
            <a:r>
              <a:rPr lang="zh-CN" altLang="en-US" sz="2000" dirty="0">
                <a:sym typeface="Wingdings" panose="05000000000000000000" pitchFamily="2" charset="2"/>
              </a:rPr>
              <a:t>错误代码 </a:t>
            </a:r>
            <a:r>
              <a:rPr lang="en-US" altLang="zh-CN" sz="2000" dirty="0">
                <a:sym typeface="Wingdings" panose="05000000000000000000" pitchFamily="2" charset="2"/>
              </a:rPr>
              <a:t>+ </a:t>
            </a:r>
            <a:r>
              <a:rPr lang="zh-CN" altLang="en-US" sz="2000" dirty="0">
                <a:sym typeface="Wingdings" panose="05000000000000000000" pitchFamily="2" charset="2"/>
              </a:rPr>
              <a:t>失败测试用例</a:t>
            </a:r>
            <a:r>
              <a:rPr lang="en-US" altLang="zh-CN" sz="2000" dirty="0">
                <a:sym typeface="Wingdings" panose="05000000000000000000" pitchFamily="2" charset="2"/>
              </a:rPr>
              <a:t>/</a:t>
            </a:r>
            <a:r>
              <a:rPr lang="zh-CN" altLang="en-US" sz="2000" dirty="0">
                <a:sym typeface="Wingdings" panose="05000000000000000000" pitchFamily="2" charset="2"/>
              </a:rPr>
              <a:t>报错信息→ 修复后代码”的格式，训练模型根据执行反馈修正错误代码。</a:t>
            </a:r>
            <a:endParaRPr lang="en-US" altLang="zh-CN" sz="2000" dirty="0">
              <a:sym typeface="Wingdings" panose="05000000000000000000" pitchFamily="2" charset="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A430585-6C8B-3C3A-1BA4-24FC37C99228}"/>
              </a:ext>
            </a:extLst>
          </p:cNvPr>
          <p:cNvSpPr txBox="1"/>
          <p:nvPr/>
        </p:nvSpPr>
        <p:spPr>
          <a:xfrm>
            <a:off x="641229" y="5904924"/>
            <a:ext cx="115507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3333B3"/>
              </a:buClr>
              <a:buFont typeface="Arial" panose="020B0604020202020204" pitchFamily="34" charset="0"/>
              <a:buChar char="•"/>
            </a:pPr>
            <a:r>
              <a:rPr lang="en-US" altLang="zh-CN" sz="1600" b="1" dirty="0" err="1"/>
              <a:t>LLamaFactory</a:t>
            </a:r>
            <a:r>
              <a:rPr lang="en-US" altLang="zh-CN" sz="1600" b="1" dirty="0"/>
              <a:t> </a:t>
            </a:r>
            <a:r>
              <a:rPr lang="en-US" altLang="zh-CN" sz="1600" b="1" dirty="0" err="1"/>
              <a:t>LoRA</a:t>
            </a:r>
            <a:r>
              <a:rPr lang="zh-CN" altLang="zh-CN" sz="1600" b="1" dirty="0"/>
              <a:t>微调文档：</a:t>
            </a:r>
            <a:r>
              <a:rPr lang="en-US" altLang="zh-CN" sz="1600" b="1" dirty="0">
                <a:hlinkClick r:id="rId2"/>
              </a:rPr>
              <a:t>https://llamafactory.readthedocs.io/zh-cn/latest/advanced/arguments.html#lora</a:t>
            </a:r>
            <a:r>
              <a:rPr lang="zh-CN" altLang="en-US" sz="1600" b="1" dirty="0">
                <a:hlinkClick r:id="rId2"/>
              </a:rPr>
              <a:t>；</a:t>
            </a:r>
            <a:endParaRPr lang="en-US" altLang="zh-CN" sz="1600" b="1" dirty="0">
              <a:hlinkClick r:id="rId2"/>
            </a:endParaRPr>
          </a:p>
          <a:p>
            <a:pPr marL="342900" indent="-342900">
              <a:buClr>
                <a:srgbClr val="3333B3"/>
              </a:buClr>
              <a:buFont typeface="Arial" panose="020B0604020202020204" pitchFamily="34" charset="0"/>
              <a:buChar char="•"/>
            </a:pPr>
            <a:r>
              <a:rPr lang="en-US" altLang="zh-CN" sz="1600" b="1" dirty="0" err="1"/>
              <a:t>LoRA</a:t>
            </a:r>
            <a:r>
              <a:rPr lang="zh-CN" altLang="en-US" sz="1600" b="1" dirty="0"/>
              <a:t>微调示例：</a:t>
            </a:r>
            <a:r>
              <a:rPr lang="en-US" altLang="zh-CN" sz="1600" b="1" dirty="0"/>
              <a:t>https://github.com/hiyouga/LlamaFactory/tree/main/examples/train_lora</a:t>
            </a:r>
          </a:p>
        </p:txBody>
      </p:sp>
    </p:spTree>
    <p:extLst>
      <p:ext uri="{BB962C8B-B14F-4D97-AF65-F5344CB8AC3E}">
        <p14:creationId xmlns:p14="http://schemas.microsoft.com/office/powerpoint/2010/main" val="32701601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A3</a:t>
            </a:r>
            <a:r>
              <a:rPr lang="zh-CN" altLang="en-US" dirty="0"/>
              <a:t>：</a:t>
            </a:r>
            <a:r>
              <a:rPr spc="200">
                <a:cs typeface="微软雅黑" panose="020B0503020204020204" pitchFamily="34" charset="-122"/>
                <a:sym typeface="+mn-ea"/>
              </a:rPr>
              <a:t>偏好数据构造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3"/>
          </p:nvPr>
        </p:nvSpPr>
        <p:spPr>
          <a:xfrm>
            <a:off x="403860" y="1047750"/>
            <a:ext cx="11530330" cy="2633345"/>
          </a:xfrm>
        </p:spPr>
        <p:txBody>
          <a:bodyPr>
            <a:normAutofit fontScale="77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2400" b="1" dirty="0"/>
              <a:t> </a:t>
            </a:r>
            <a:r>
              <a:rPr lang="zh-CN" altLang="en-US" sz="3400" b="1" dirty="0"/>
              <a:t> 原始数据下载地址：</a:t>
            </a:r>
            <a:endParaRPr lang="en-US" altLang="zh-CN" sz="2400" b="1" dirty="0"/>
          </a:p>
          <a:p>
            <a:pPr marL="914400" lvl="1" indent="-457200">
              <a:buAutoNum type="arabicPeriod"/>
            </a:pPr>
            <a:r>
              <a:rPr lang="zh-CN" altLang="en-US" sz="2855" b="1" dirty="0"/>
              <a:t>数据集地址：</a:t>
            </a:r>
            <a:r>
              <a:rPr lang="en-US" altLang="zh-CN" sz="2600" dirty="0"/>
              <a:t>https://huggingface.co/datasets/jondurbin/py-dpo-v0.1</a:t>
            </a:r>
            <a:endParaRPr lang="en-US" altLang="zh-CN" sz="2400" dirty="0"/>
          </a:p>
          <a:p>
            <a:pPr marL="914400" lvl="1" indent="-457200">
              <a:buAutoNum type="arabicPeriod"/>
            </a:pPr>
            <a:r>
              <a:rPr lang="zh-CN" altLang="en-US" sz="2900" b="1" dirty="0">
                <a:sym typeface="Wingdings" panose="05000000000000000000" pitchFamily="2" charset="2"/>
              </a:rPr>
              <a:t>终端下载命令：</a:t>
            </a:r>
            <a:r>
              <a:rPr lang="en-US" altLang="zh-CN" dirty="0">
                <a:sym typeface="Wingdings" panose="05000000000000000000" pitchFamily="2" charset="2"/>
              </a:rPr>
              <a:t>hf download --repo-type dataset jondurbin/py-dpo-v0.1 --local-dir /data/luoyingfeng/zjx/20260617/py-dpo-v0.1</a:t>
            </a:r>
            <a:r>
              <a:rPr lang="zh-CN" altLang="en-US" sz="2900" dirty="0">
                <a:sym typeface="Wingdings" panose="05000000000000000000" pitchFamily="2" charset="2"/>
              </a:rPr>
              <a:t>（</a:t>
            </a:r>
            <a:r>
              <a:rPr lang="zh-CN" altLang="en-US" sz="2900" b="1" dirty="0">
                <a:solidFill>
                  <a:srgbClr val="FF0000"/>
                </a:solidFill>
                <a:sym typeface="Wingdings" panose="05000000000000000000" pitchFamily="2" charset="2"/>
              </a:rPr>
              <a:t>该处写本地保存的路径</a:t>
            </a:r>
            <a:r>
              <a:rPr lang="zh-CN" altLang="en-US" sz="2900" dirty="0">
                <a:sym typeface="Wingdings" panose="05000000000000000000" pitchFamily="2" charset="2"/>
              </a:rPr>
              <a:t>）</a:t>
            </a:r>
            <a:endParaRPr lang="en-US" altLang="zh-CN" sz="3000" dirty="0"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2400" b="1" dirty="0">
                <a:sym typeface="Wingdings" panose="05000000000000000000" pitchFamily="2" charset="2"/>
              </a:rPr>
              <a:t>  </a:t>
            </a:r>
            <a:r>
              <a:rPr lang="zh-CN" altLang="en-US" sz="3400" b="1" dirty="0">
                <a:sym typeface="Wingdings" panose="05000000000000000000" pitchFamily="2" charset="2"/>
              </a:rPr>
              <a:t>数据内容：</a:t>
            </a:r>
            <a:r>
              <a:rPr lang="zh-CN" altLang="en-US" sz="2855" dirty="0"/>
              <a:t>本数据集是</a:t>
            </a:r>
            <a:r>
              <a:rPr lang="en-US" altLang="zh-CN" sz="2855" dirty="0"/>
              <a:t>Python coding </a:t>
            </a:r>
            <a:r>
              <a:rPr lang="zh-CN" altLang="en-US" sz="2855" dirty="0"/>
              <a:t>方向的 </a:t>
            </a:r>
            <a:r>
              <a:rPr lang="en-US" altLang="zh-CN" sz="2855" dirty="0"/>
              <a:t>DPO </a:t>
            </a:r>
            <a:r>
              <a:rPr lang="zh-CN" altLang="en-US" sz="2855" dirty="0"/>
              <a:t>偏好数据集，主要用来让模型在代码任务上更偏向“高质量答案”，远离“较低质量答案”</a:t>
            </a:r>
            <a:r>
              <a:rPr lang="en-US" altLang="zh-CN" sz="2855" dirty="0"/>
              <a:t>,</a:t>
            </a:r>
            <a:r>
              <a:rPr lang="zh-CN" altLang="en-US" sz="2855" dirty="0"/>
              <a:t>字段是典型 </a:t>
            </a:r>
            <a:r>
              <a:rPr lang="en-US" altLang="zh-CN" sz="2855" dirty="0"/>
              <a:t>DPO </a:t>
            </a:r>
            <a:r>
              <a:rPr lang="zh-CN" altLang="en-US" sz="2855" dirty="0"/>
              <a:t>三元组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168BB-329B-4EC0-BBCE-DC6BA5995A49}" type="slidenum">
              <a:rPr lang="zh-CN" altLang="en-US" smtClean="0"/>
              <a:t>23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rcRect l="3429" t="12381" r="14093" b="5818"/>
          <a:stretch/>
        </p:blipFill>
        <p:spPr>
          <a:xfrm>
            <a:off x="413254" y="4534955"/>
            <a:ext cx="4416724" cy="1319842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8980" y="3980282"/>
            <a:ext cx="6559766" cy="2509417"/>
          </a:xfrm>
          <a:prstGeom prst="rect">
            <a:avLst/>
          </a:prstGeom>
        </p:spPr>
      </p:pic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1599F291-0585-B7E3-E1E1-C90FBAF4CE90}"/>
              </a:ext>
            </a:extLst>
          </p:cNvPr>
          <p:cNvCxnSpPr>
            <a:cxnSpLocks/>
          </p:cNvCxnSpPr>
          <p:nvPr/>
        </p:nvCxnSpPr>
        <p:spPr>
          <a:xfrm flipV="1">
            <a:off x="4829978" y="3980282"/>
            <a:ext cx="389002" cy="554673"/>
          </a:xfrm>
          <a:prstGeom prst="line">
            <a:avLst/>
          </a:prstGeom>
          <a:ln w="190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18194CBB-E403-EA05-0947-2E85D2A1644E}"/>
              </a:ext>
            </a:extLst>
          </p:cNvPr>
          <p:cNvCxnSpPr/>
          <p:nvPr/>
        </p:nvCxnSpPr>
        <p:spPr>
          <a:xfrm>
            <a:off x="4829978" y="5854797"/>
            <a:ext cx="389002" cy="634902"/>
          </a:xfrm>
          <a:prstGeom prst="line">
            <a:avLst/>
          </a:prstGeom>
          <a:ln w="190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A3</a:t>
            </a:r>
            <a:r>
              <a:rPr lang="zh-CN" altLang="en-US" dirty="0"/>
              <a:t>：</a:t>
            </a:r>
            <a:r>
              <a:rPr spc="200">
                <a:cs typeface="微软雅黑" panose="020B0503020204020204" pitchFamily="34" charset="-122"/>
                <a:sym typeface="+mn-ea"/>
              </a:rPr>
              <a:t>偏好数据构造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3"/>
          </p:nvPr>
        </p:nvSpPr>
        <p:spPr>
          <a:xfrm>
            <a:off x="234530" y="1066273"/>
            <a:ext cx="11523274" cy="3842158"/>
          </a:xfrm>
        </p:spPr>
        <p:txBody>
          <a:bodyPr>
            <a:normAutofit fontScale="72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3300" b="1" dirty="0"/>
              <a:t>  </a:t>
            </a:r>
            <a:r>
              <a:rPr lang="zh-CN" altLang="en-US" sz="3300" b="1" dirty="0">
                <a:sym typeface="Wingdings" panose="05000000000000000000" pitchFamily="2" charset="2"/>
              </a:rPr>
              <a:t>本节实训基础要求（可以在当前代码的引导下完全实现）：</a:t>
            </a:r>
          </a:p>
          <a:p>
            <a:pPr lvl="1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sym typeface="Wingdings" panose="05000000000000000000" pitchFamily="2" charset="2"/>
              </a:rPr>
              <a:t>读取原始 </a:t>
            </a:r>
            <a:r>
              <a:rPr lang="en-US" altLang="zh-CN" sz="2800" dirty="0">
                <a:sym typeface="Wingdings" panose="05000000000000000000" pitchFamily="2" charset="2"/>
              </a:rPr>
              <a:t>py-dpo.parquet </a:t>
            </a:r>
            <a:r>
              <a:rPr lang="zh-CN" altLang="en-US" sz="2800" dirty="0">
                <a:sym typeface="Wingdings" panose="05000000000000000000" pitchFamily="2" charset="2"/>
              </a:rPr>
              <a:t>数据文件，提取其中的 </a:t>
            </a:r>
            <a:r>
              <a:rPr lang="en-US" altLang="zh-CN" sz="2800" dirty="0">
                <a:sym typeface="Wingdings" panose="05000000000000000000" pitchFamily="2" charset="2"/>
              </a:rPr>
              <a:t>prompt、chosen、rejected </a:t>
            </a:r>
            <a:r>
              <a:rPr lang="zh-CN" altLang="en-US" sz="2800" dirty="0">
                <a:sym typeface="Wingdings" panose="05000000000000000000" pitchFamily="2" charset="2"/>
              </a:rPr>
              <a:t>等字段。</a:t>
            </a:r>
          </a:p>
          <a:p>
            <a:pPr lvl="1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sym typeface="Wingdings" panose="05000000000000000000" pitchFamily="2" charset="2"/>
              </a:rPr>
              <a:t>对原始样本进行清洗，去除缺失 </a:t>
            </a:r>
            <a:r>
              <a:rPr lang="en-US" altLang="zh-CN" sz="2800" dirty="0">
                <a:sym typeface="Wingdings" panose="05000000000000000000" pitchFamily="2" charset="2"/>
              </a:rPr>
              <a:t>prompt、chosen </a:t>
            </a:r>
            <a:r>
              <a:rPr lang="zh-CN" altLang="en-US" sz="2800" dirty="0">
                <a:sym typeface="Wingdings" panose="05000000000000000000" pitchFamily="2" charset="2"/>
              </a:rPr>
              <a:t>或 </a:t>
            </a:r>
            <a:r>
              <a:rPr lang="en-US" altLang="zh-CN" sz="2800" dirty="0">
                <a:sym typeface="Wingdings" panose="05000000000000000000" pitchFamily="2" charset="2"/>
              </a:rPr>
              <a:t>rejected </a:t>
            </a:r>
            <a:r>
              <a:rPr lang="zh-CN" altLang="en-US" sz="2800" dirty="0">
                <a:sym typeface="Wingdings" panose="05000000000000000000" pitchFamily="2" charset="2"/>
              </a:rPr>
              <a:t>的无效样本。</a:t>
            </a:r>
          </a:p>
          <a:p>
            <a:pPr lvl="1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sym typeface="Wingdings" panose="05000000000000000000" pitchFamily="2" charset="2"/>
              </a:rPr>
              <a:t>将原始偏好数据转换为 </a:t>
            </a:r>
            <a:r>
              <a:rPr lang="en-US" altLang="zh-CN" sz="2800" dirty="0">
                <a:sym typeface="Wingdings" panose="05000000000000000000" pitchFamily="2" charset="2"/>
              </a:rPr>
              <a:t>LLaMA-Factory </a:t>
            </a:r>
            <a:r>
              <a:rPr lang="zh-CN" altLang="en-US" sz="2800" dirty="0">
                <a:sym typeface="Wingdings" panose="05000000000000000000" pitchFamily="2" charset="2"/>
              </a:rPr>
              <a:t>支持的 </a:t>
            </a:r>
            <a:r>
              <a:rPr lang="en-US" altLang="zh-CN" sz="2800" dirty="0">
                <a:sym typeface="Wingdings" panose="05000000000000000000" pitchFamily="2" charset="2"/>
              </a:rPr>
              <a:t>DPO ranking </a:t>
            </a:r>
            <a:r>
              <a:rPr lang="zh-CN" altLang="en-US" sz="2800" dirty="0">
                <a:sym typeface="Wingdings" panose="05000000000000000000" pitchFamily="2" charset="2"/>
              </a:rPr>
              <a:t>数据格式。</a:t>
            </a:r>
          </a:p>
          <a:p>
            <a:pPr lvl="1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sym typeface="Wingdings" panose="05000000000000000000" pitchFamily="2" charset="2"/>
              </a:rPr>
              <a:t>按照随机种子划分训练集和测试集，并分别保存为 </a:t>
            </a:r>
            <a:r>
              <a:rPr lang="en-US" altLang="zh-CN" sz="2800" dirty="0">
                <a:sym typeface="Wingdings" panose="05000000000000000000" pitchFamily="2" charset="2"/>
              </a:rPr>
              <a:t>code_dpo_train.json </a:t>
            </a:r>
            <a:r>
              <a:rPr lang="zh-CN" altLang="en-US" sz="2800" dirty="0">
                <a:sym typeface="Wingdings" panose="05000000000000000000" pitchFamily="2" charset="2"/>
              </a:rPr>
              <a:t>和 </a:t>
            </a:r>
            <a:r>
              <a:rPr lang="en-US" altLang="zh-CN" sz="2800" dirty="0">
                <a:sym typeface="Wingdings" panose="05000000000000000000" pitchFamily="2" charset="2"/>
              </a:rPr>
              <a:t>code_dpo_test.json。</a:t>
            </a:r>
          </a:p>
          <a:p>
            <a:pPr lvl="1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sym typeface="Wingdings" panose="05000000000000000000" pitchFamily="2" charset="2"/>
              </a:rPr>
              <a:t>自动生成 </a:t>
            </a:r>
            <a:r>
              <a:rPr lang="en-US" altLang="zh-CN" sz="2800" dirty="0">
                <a:sym typeface="Wingdings" panose="05000000000000000000" pitchFamily="2" charset="2"/>
              </a:rPr>
              <a:t>dataset_info.json，</a:t>
            </a:r>
            <a:r>
              <a:rPr lang="zh-CN" altLang="en-US" sz="2800" dirty="0">
                <a:sym typeface="Wingdings" panose="05000000000000000000" pitchFamily="2" charset="2"/>
              </a:rPr>
              <a:t>完成数据集在 </a:t>
            </a:r>
            <a:r>
              <a:rPr lang="en-US" altLang="zh-CN" sz="2800" dirty="0">
                <a:sym typeface="Wingdings" panose="05000000000000000000" pitchFamily="2" charset="2"/>
              </a:rPr>
              <a:t>LLaMA-Factory </a:t>
            </a:r>
            <a:r>
              <a:rPr lang="zh-CN" altLang="en-US" sz="2800" dirty="0">
                <a:sym typeface="Wingdings" panose="05000000000000000000" pitchFamily="2" charset="2"/>
              </a:rPr>
              <a:t>中的注册。</a:t>
            </a:r>
          </a:p>
          <a:p>
            <a:pPr lvl="1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sym typeface="Wingdings" panose="05000000000000000000" pitchFamily="2" charset="2"/>
              </a:rPr>
              <a:t>输出数据处理日志，包括读取样本数、训练集数量、测试集数量和输出文件路径。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zh-CN" altLang="en-US" sz="2055" b="1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zh-CN" altLang="en-US" sz="2055" b="1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altLang="zh-CN" sz="2055" b="1" dirty="0"/>
          </a:p>
          <a:p>
            <a:pPr marL="457200" lvl="1" indent="0">
              <a:buNone/>
            </a:pPr>
            <a:endParaRPr lang="zh-CN" altLang="en-US" sz="2855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168BB-329B-4EC0-BBCE-DC6BA5995A49}" type="slidenum">
              <a:rPr lang="zh-CN" altLang="en-US" smtClean="0"/>
              <a:t>24</a:t>
            </a:fld>
            <a:endParaRPr lang="zh-CN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A3</a:t>
            </a:r>
            <a:r>
              <a:rPr lang="zh-CN" altLang="en-US" dirty="0"/>
              <a:t>：</a:t>
            </a:r>
            <a:r>
              <a:rPr spc="200">
                <a:cs typeface="微软雅黑" panose="020B0503020204020204" pitchFamily="34" charset="-122"/>
                <a:sym typeface="+mn-ea"/>
              </a:rPr>
              <a:t>偏好数据构造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3"/>
          </p:nvPr>
        </p:nvSpPr>
        <p:spPr>
          <a:xfrm>
            <a:off x="234530" y="1066272"/>
            <a:ext cx="11523274" cy="4290732"/>
          </a:xfrm>
        </p:spPr>
        <p:txBody>
          <a:bodyPr>
            <a:normAutofit fontScale="95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2400" b="1" dirty="0"/>
              <a:t> </a:t>
            </a:r>
            <a:r>
              <a:rPr lang="zh-CN" altLang="en-US" sz="3400" b="1" dirty="0"/>
              <a:t> </a:t>
            </a:r>
            <a:r>
              <a:rPr lang="zh-CN" altLang="en-US" sz="2400" b="1" dirty="0">
                <a:sym typeface="Wingdings" panose="05000000000000000000" pitchFamily="2" charset="2"/>
              </a:rPr>
              <a:t>处理流程</a:t>
            </a:r>
          </a:p>
          <a:p>
            <a:pPr lvl="1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zh-CN" altLang="en-US" sz="2300" dirty="0">
                <a:sym typeface="Wingdings" panose="05000000000000000000" pitchFamily="2" charset="2"/>
              </a:rPr>
              <a:t>读取原始 </a:t>
            </a:r>
            <a:r>
              <a:rPr lang="en-US" altLang="zh-CN" sz="2300" dirty="0">
                <a:sym typeface="Wingdings" panose="05000000000000000000" pitchFamily="2" charset="2"/>
              </a:rPr>
              <a:t>parquet </a:t>
            </a:r>
            <a:r>
              <a:rPr lang="zh-CN" altLang="en-US" sz="2300" dirty="0">
                <a:sym typeface="Wingdings" panose="05000000000000000000" pitchFamily="2" charset="2"/>
              </a:rPr>
              <a:t>文件：</a:t>
            </a:r>
            <a:r>
              <a:rPr lang="en-US" altLang="zh-CN" sz="2300" dirty="0">
                <a:sym typeface="Wingdings" panose="05000000000000000000" pitchFamily="2" charset="2"/>
              </a:rPr>
              <a:t>py-dpo-v0.1/</a:t>
            </a:r>
            <a:r>
              <a:rPr lang="en-US" altLang="zh-CN" sz="2300" dirty="0" err="1">
                <a:sym typeface="Wingdings" panose="05000000000000000000" pitchFamily="2" charset="2"/>
              </a:rPr>
              <a:t>py-dpo.parquet</a:t>
            </a:r>
            <a:endParaRPr lang="zh-CN" altLang="en-US" sz="2300" dirty="0">
              <a:sym typeface="Wingdings" panose="05000000000000000000" pitchFamily="2" charset="2"/>
            </a:endParaRPr>
          </a:p>
          <a:p>
            <a:pPr lvl="1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zh-CN" altLang="en-US" sz="2300" dirty="0">
                <a:sym typeface="Wingdings" panose="05000000000000000000" pitchFamily="2" charset="2"/>
              </a:rPr>
              <a:t>随机打乱数据，默认使用随机种子，去除无效样本，默认抽取 </a:t>
            </a:r>
            <a:r>
              <a:rPr lang="en-US" altLang="zh-CN" sz="2300" dirty="0">
                <a:sym typeface="Wingdings" panose="05000000000000000000" pitchFamily="2" charset="2"/>
              </a:rPr>
              <a:t>500 </a:t>
            </a:r>
            <a:r>
              <a:rPr lang="zh-CN" altLang="en-US" sz="2300" dirty="0">
                <a:sym typeface="Wingdings" panose="05000000000000000000" pitchFamily="2" charset="2"/>
              </a:rPr>
              <a:t>条作为测试集：</a:t>
            </a:r>
            <a:endParaRPr lang="en-US" altLang="zh-CN" sz="2300" dirty="0">
              <a:sym typeface="Wingdings" panose="05000000000000000000" pitchFamily="2" charset="2"/>
            </a:endParaRPr>
          </a:p>
          <a:p>
            <a:pPr lvl="1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zh-CN" altLang="en-US" sz="2300" dirty="0">
                <a:sym typeface="Wingdings" panose="05000000000000000000" pitchFamily="2" charset="2"/>
              </a:rPr>
              <a:t>剩余数据转换为 </a:t>
            </a:r>
            <a:r>
              <a:rPr lang="en-US" altLang="zh-CN" sz="2300" dirty="0">
                <a:sym typeface="Wingdings" panose="05000000000000000000" pitchFamily="2" charset="2"/>
              </a:rPr>
              <a:t>DPO </a:t>
            </a:r>
            <a:r>
              <a:rPr lang="zh-CN" altLang="en-US" sz="2300" dirty="0">
                <a:sym typeface="Wingdings" panose="05000000000000000000" pitchFamily="2" charset="2"/>
              </a:rPr>
              <a:t>训练格式，测试集转换为生成评测格式：并分别保存为 </a:t>
            </a:r>
            <a:r>
              <a:rPr lang="en-US" altLang="zh-CN" sz="2300" dirty="0" err="1">
                <a:sym typeface="Wingdings" panose="05000000000000000000" pitchFamily="2" charset="2"/>
              </a:rPr>
              <a:t>code_dpo_train.json</a:t>
            </a:r>
            <a:r>
              <a:rPr lang="en-US" altLang="zh-CN" sz="2300" dirty="0">
                <a:sym typeface="Wingdings" panose="05000000000000000000" pitchFamily="2" charset="2"/>
              </a:rPr>
              <a:t> </a:t>
            </a:r>
            <a:r>
              <a:rPr lang="zh-CN" altLang="en-US" sz="2300" dirty="0">
                <a:sym typeface="Wingdings" panose="05000000000000000000" pitchFamily="2" charset="2"/>
              </a:rPr>
              <a:t>和 </a:t>
            </a:r>
            <a:r>
              <a:rPr lang="en-US" altLang="zh-CN" sz="2300" dirty="0" err="1">
                <a:sym typeface="Wingdings" panose="05000000000000000000" pitchFamily="2" charset="2"/>
              </a:rPr>
              <a:t>code_dpo_test.json</a:t>
            </a:r>
            <a:r>
              <a:rPr lang="en-US" altLang="zh-CN" sz="2300" dirty="0">
                <a:sym typeface="Wingdings" panose="05000000000000000000" pitchFamily="2" charset="2"/>
              </a:rPr>
              <a:t>。</a:t>
            </a:r>
          </a:p>
          <a:p>
            <a:pPr lvl="1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zh-CN" altLang="en-US" sz="2300" dirty="0">
                <a:sym typeface="Wingdings" panose="05000000000000000000" pitchFamily="2" charset="2"/>
              </a:rPr>
              <a:t>自动生成 </a:t>
            </a:r>
            <a:r>
              <a:rPr lang="en-US" altLang="zh-CN" sz="2300" dirty="0">
                <a:sym typeface="Wingdings" panose="05000000000000000000" pitchFamily="2" charset="2"/>
              </a:rPr>
              <a:t>dataset_info.json，</a:t>
            </a:r>
            <a:r>
              <a:rPr lang="zh-CN" altLang="en-US" sz="2300" dirty="0">
                <a:sym typeface="Wingdings" panose="05000000000000000000" pitchFamily="2" charset="2"/>
              </a:rPr>
              <a:t>完成数据集在 </a:t>
            </a:r>
            <a:r>
              <a:rPr lang="en-US" altLang="zh-CN" sz="2300" dirty="0">
                <a:sym typeface="Wingdings" panose="05000000000000000000" pitchFamily="2" charset="2"/>
              </a:rPr>
              <a:t>LLaMA-Factory </a:t>
            </a:r>
            <a:r>
              <a:rPr lang="zh-CN" altLang="en-US" sz="2300" dirty="0">
                <a:sym typeface="Wingdings" panose="05000000000000000000" pitchFamily="2" charset="2"/>
              </a:rPr>
              <a:t>中的注册。</a:t>
            </a:r>
          </a:p>
          <a:p>
            <a:pPr lvl="1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zh-CN" altLang="en-US" sz="2300" dirty="0">
                <a:sym typeface="Wingdings" panose="05000000000000000000" pitchFamily="2" charset="2"/>
              </a:rPr>
              <a:t>输出数据处理日志，包括读取样本数、训练集数量、测试集数量和输出文件路径。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zh-CN" altLang="en-US" sz="2055" b="1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zh-CN" altLang="en-US" sz="2055" b="1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altLang="zh-CN" sz="2055" b="1" dirty="0"/>
          </a:p>
          <a:p>
            <a:pPr marL="457200" lvl="1" indent="0">
              <a:buNone/>
            </a:pPr>
            <a:endParaRPr lang="zh-CN" altLang="en-US" sz="2855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168BB-329B-4EC0-BBCE-DC6BA5995A49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73657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A3</a:t>
            </a:r>
            <a:r>
              <a:rPr lang="zh-CN" altLang="en-US" dirty="0"/>
              <a:t>：</a:t>
            </a:r>
            <a:r>
              <a:rPr spc="200">
                <a:cs typeface="微软雅黑" panose="020B0503020204020204" pitchFamily="34" charset="-122"/>
                <a:sym typeface="+mn-ea"/>
              </a:rPr>
              <a:t>偏好数据构造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3"/>
          </p:nvPr>
        </p:nvSpPr>
        <p:spPr>
          <a:xfrm>
            <a:off x="234530" y="1066272"/>
            <a:ext cx="11523274" cy="4618536"/>
          </a:xfrm>
        </p:spPr>
        <p:txBody>
          <a:bodyPr>
            <a:normAutofit fontScale="95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2400" b="1" dirty="0"/>
              <a:t> </a:t>
            </a:r>
            <a:r>
              <a:rPr lang="zh-CN" altLang="en-US" sz="3400" b="1" dirty="0"/>
              <a:t> </a:t>
            </a:r>
            <a:r>
              <a:rPr lang="zh-CN" altLang="en-US" sz="2400" b="1" dirty="0">
                <a:sym typeface="Wingdings" panose="05000000000000000000" pitchFamily="2" charset="2"/>
              </a:rPr>
              <a:t>代码运行命令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sz="2055" b="1" dirty="0">
                <a:sym typeface="Wingdings" panose="05000000000000000000" pitchFamily="2" charset="2"/>
              </a:rPr>
              <a:t>激活配置好的环境：</a:t>
            </a:r>
            <a:r>
              <a:rPr lang="en-US" altLang="zh-CN" sz="2055" b="1" dirty="0" err="1">
                <a:solidFill>
                  <a:srgbClr val="FF0000"/>
                </a:solidFill>
                <a:sym typeface="Wingdings" panose="05000000000000000000" pitchFamily="2" charset="2"/>
              </a:rPr>
              <a:t>conda</a:t>
            </a:r>
            <a:r>
              <a:rPr lang="en-US" altLang="zh-CN" sz="2055" b="1" dirty="0">
                <a:solidFill>
                  <a:srgbClr val="FF0000"/>
                </a:solidFill>
                <a:sym typeface="Wingdings" panose="05000000000000000000" pitchFamily="2" charset="2"/>
              </a:rPr>
              <a:t> activate </a:t>
            </a:r>
            <a:r>
              <a:rPr lang="en-US" altLang="zh-CN" sz="2055" b="1" dirty="0" err="1">
                <a:solidFill>
                  <a:srgbClr val="FF0000"/>
                </a:solidFill>
                <a:sym typeface="Wingdings" panose="05000000000000000000" pitchFamily="2" charset="2"/>
              </a:rPr>
              <a:t>your_env</a:t>
            </a:r>
            <a:r>
              <a:rPr lang="en-US" altLang="zh-CN" sz="2055" b="1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sz="2055" b="1" dirty="0">
                <a:sym typeface="Wingdings" panose="05000000000000000000" pitchFamily="2" charset="2"/>
              </a:rPr>
              <a:t>进入项目文件夹：</a:t>
            </a:r>
            <a:r>
              <a:rPr lang="en-US" altLang="zh-CN" sz="2055" b="1" dirty="0">
                <a:solidFill>
                  <a:srgbClr val="FF0000"/>
                </a:solidFill>
                <a:sym typeface="Wingdings" panose="05000000000000000000" pitchFamily="2" charset="2"/>
              </a:rPr>
              <a:t>cd </a:t>
            </a:r>
            <a:r>
              <a:rPr lang="en-US" altLang="zh-CN" sz="2055" b="1" dirty="0" err="1">
                <a:solidFill>
                  <a:srgbClr val="FF0000"/>
                </a:solidFill>
                <a:sym typeface="Wingdings" panose="05000000000000000000" pitchFamily="2" charset="2"/>
              </a:rPr>
              <a:t>assignment_A</a:t>
            </a:r>
            <a:endParaRPr lang="en-US" altLang="zh-CN" sz="2055" b="1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sz="2055" b="1" dirty="0">
                <a:sym typeface="Wingdings" panose="05000000000000000000" pitchFamily="2" charset="2"/>
              </a:rPr>
              <a:t>运行代码：</a:t>
            </a:r>
            <a:r>
              <a:rPr lang="en-US" altLang="zh-CN" sz="2055" b="1" dirty="0">
                <a:sym typeface="Wingdings" panose="05000000000000000000" pitchFamily="2" charset="2"/>
              </a:rPr>
              <a:t> </a:t>
            </a:r>
            <a:r>
              <a:rPr lang="en-US" altLang="zh-CN" sz="2055" b="1" dirty="0">
                <a:solidFill>
                  <a:srgbClr val="FF0000"/>
                </a:solidFill>
                <a:sym typeface="Wingdings" panose="05000000000000000000" pitchFamily="2" charset="2"/>
              </a:rPr>
              <a:t>bash dpo/scripts/prepare_data.sh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zh-CN" altLang="en-US" sz="1655" dirty="0">
                <a:sym typeface="Wingdings" panose="05000000000000000000" pitchFamily="2" charset="2"/>
              </a:rPr>
              <a:t>小样本调试：</a:t>
            </a:r>
            <a:r>
              <a:rPr lang="en-US" altLang="zh-CN" sz="1655" dirty="0">
                <a:sym typeface="Wingdings" panose="05000000000000000000" pitchFamily="2" charset="2"/>
              </a:rPr>
              <a:t> MAX_TRAIN_SAMPLES=200 TEST_SIZE=50 bash dpo/scripts/prepare_data.sh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zh-CN" altLang="en-US" sz="1655" dirty="0">
                <a:sym typeface="Wingdings" panose="05000000000000000000" pitchFamily="2" charset="2"/>
              </a:rPr>
              <a:t>自定义随机种子：</a:t>
            </a:r>
            <a:r>
              <a:rPr lang="en-US" altLang="zh-CN" sz="1655" dirty="0">
                <a:sym typeface="Wingdings" panose="05000000000000000000" pitchFamily="2" charset="2"/>
              </a:rPr>
              <a:t> SEED=123 bash dpo/scripts/prepare_data.sh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zh-CN" altLang="en-US" sz="1655" dirty="0">
                <a:sym typeface="Wingdings" panose="05000000000000000000" pitchFamily="2" charset="2"/>
              </a:rPr>
              <a:t>自定义原始数据目录和输出目录：</a:t>
            </a:r>
            <a:r>
              <a:rPr lang="en-US" altLang="zh-CN" sz="1655" dirty="0">
                <a:sym typeface="Wingdings" panose="05000000000000000000" pitchFamily="2" charset="2"/>
              </a:rPr>
              <a:t> SOURCE_DIR=py-dpo-v0.1 OUTPUT_DIR=</a:t>
            </a:r>
            <a:r>
              <a:rPr lang="en-US" altLang="zh-CN" sz="1655" dirty="0" err="1">
                <a:sym typeface="Wingdings" panose="05000000000000000000" pitchFamily="2" charset="2"/>
              </a:rPr>
              <a:t>dpo</a:t>
            </a:r>
            <a:r>
              <a:rPr lang="en-US" altLang="zh-CN" sz="1655" dirty="0">
                <a:sym typeface="Wingdings" panose="05000000000000000000" pitchFamily="2" charset="2"/>
              </a:rPr>
              <a:t>/data bash dpo/scripts/prepare_data.sh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sz="2100" b="1" dirty="0">
                <a:sym typeface="Wingdings" panose="05000000000000000000" pitchFamily="2" charset="2"/>
              </a:rPr>
              <a:t>运行结束后会站在</a:t>
            </a:r>
            <a:r>
              <a:rPr lang="en-US" altLang="zh-CN" sz="2100" b="1" dirty="0">
                <a:sym typeface="Wingdings" panose="05000000000000000000" pitchFamily="2" charset="2"/>
              </a:rPr>
              <a:t>data</a:t>
            </a:r>
            <a:r>
              <a:rPr lang="zh-CN" altLang="en-US" sz="2100" b="1" dirty="0">
                <a:sym typeface="Wingdings" panose="05000000000000000000" pitchFamily="2" charset="2"/>
              </a:rPr>
              <a:t>文件里面，输出</a:t>
            </a:r>
            <a:r>
              <a:rPr lang="en-US" altLang="zh-CN" sz="2100" b="1" dirty="0" err="1">
                <a:sym typeface="Wingdings" panose="05000000000000000000" pitchFamily="2" charset="2"/>
              </a:rPr>
              <a:t>code_dpo_train.json</a:t>
            </a:r>
            <a:r>
              <a:rPr lang="zh-CN" altLang="en-US" sz="2100" b="1" dirty="0">
                <a:sym typeface="Wingdings" panose="05000000000000000000" pitchFamily="2" charset="2"/>
              </a:rPr>
              <a:t>，</a:t>
            </a:r>
            <a:r>
              <a:rPr lang="en-US" altLang="zh-CN" sz="2100" b="1" dirty="0" err="1">
                <a:sym typeface="Wingdings" panose="05000000000000000000" pitchFamily="2" charset="2"/>
              </a:rPr>
              <a:t>code_dpo_test.json</a:t>
            </a:r>
            <a:r>
              <a:rPr lang="zh-CN" altLang="en-US" sz="2100" b="1" dirty="0">
                <a:sym typeface="Wingdings" panose="05000000000000000000" pitchFamily="2" charset="2"/>
              </a:rPr>
              <a:t>，</a:t>
            </a:r>
            <a:r>
              <a:rPr lang="en-US" altLang="zh-CN" sz="2100" b="1" dirty="0" err="1">
                <a:sym typeface="Wingdings" panose="05000000000000000000" pitchFamily="2" charset="2"/>
              </a:rPr>
              <a:t>dataset_info.json</a:t>
            </a:r>
            <a:endParaRPr lang="en-US" altLang="zh-CN" sz="2200" b="1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marL="914400" lvl="2" indent="0">
              <a:buNone/>
            </a:pPr>
            <a:endParaRPr lang="zh-CN" altLang="en-US" sz="1655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zh-CN" altLang="en-US" sz="2055" b="1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altLang="zh-CN" sz="2055" b="1" dirty="0"/>
          </a:p>
          <a:p>
            <a:pPr marL="457200" lvl="1" indent="0">
              <a:buNone/>
            </a:pPr>
            <a:endParaRPr lang="zh-CN" altLang="en-US" sz="2855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168BB-329B-4EC0-BBCE-DC6BA5995A49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71164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A3</a:t>
            </a:r>
            <a:r>
              <a:rPr lang="zh-CN" altLang="en-US" dirty="0"/>
              <a:t>：</a:t>
            </a:r>
            <a:r>
              <a:rPr spc="200">
                <a:cs typeface="微软雅黑" panose="020B0503020204020204" pitchFamily="34" charset="-122"/>
                <a:sym typeface="+mn-ea"/>
              </a:rPr>
              <a:t>偏好数据构造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3"/>
          </p:nvPr>
        </p:nvSpPr>
        <p:spPr>
          <a:xfrm>
            <a:off x="234530" y="1066272"/>
            <a:ext cx="11523274" cy="4290732"/>
          </a:xfrm>
        </p:spPr>
        <p:txBody>
          <a:bodyPr>
            <a:normAutofit fontScale="95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2400" b="1" dirty="0"/>
              <a:t> </a:t>
            </a:r>
            <a:r>
              <a:rPr lang="zh-CN" altLang="en-US" sz="3400" b="1" dirty="0"/>
              <a:t> </a:t>
            </a:r>
            <a:r>
              <a:rPr lang="zh-CN" altLang="en-US" sz="2400" b="1" dirty="0">
                <a:sym typeface="Wingdings" panose="05000000000000000000" pitchFamily="2" charset="2"/>
              </a:rPr>
              <a:t>代码运行图例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zh-CN" altLang="en-US" sz="2055" b="1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altLang="zh-CN" sz="2055" b="1" dirty="0"/>
          </a:p>
          <a:p>
            <a:pPr marL="457200" lvl="1" indent="0">
              <a:buNone/>
            </a:pPr>
            <a:endParaRPr lang="zh-CN" altLang="en-US" sz="2855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168BB-329B-4EC0-BBCE-DC6BA5995A49}" type="slidenum">
              <a:rPr lang="zh-CN" altLang="en-US" smtClean="0"/>
              <a:t>27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F5487C8-5574-B20B-AD58-339C815F86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8" y="1980327"/>
            <a:ext cx="7571194" cy="944993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5761C766-7230-8266-5197-2A5CABEA3BDA}"/>
              </a:ext>
            </a:extLst>
          </p:cNvPr>
          <p:cNvSpPr txBox="1"/>
          <p:nvPr/>
        </p:nvSpPr>
        <p:spPr>
          <a:xfrm>
            <a:off x="3398015" y="1571885"/>
            <a:ext cx="19800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2000" b="1" dirty="0">
                <a:solidFill>
                  <a:srgbClr val="3333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数据预处理输出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0876560C-730C-3304-419E-2D3A7CA6D2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6203" y="3528251"/>
            <a:ext cx="4631955" cy="2561997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85AC2B18-5CA0-6910-B7FA-7A2274467D9D}"/>
              </a:ext>
            </a:extLst>
          </p:cNvPr>
          <p:cNvSpPr txBox="1"/>
          <p:nvPr/>
        </p:nvSpPr>
        <p:spPr>
          <a:xfrm>
            <a:off x="9048646" y="3135000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2000" b="1" dirty="0">
                <a:solidFill>
                  <a:srgbClr val="3333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保存的文件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E3418C9C-656A-FC16-6576-71C1EDAEA13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6" b="-4090"/>
          <a:stretch/>
        </p:blipFill>
        <p:spPr>
          <a:xfrm>
            <a:off x="812273" y="4728504"/>
            <a:ext cx="6060597" cy="1438095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CC665ACD-1F30-D8BE-596D-027EF908C0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8" y="3535110"/>
            <a:ext cx="6066647" cy="1235126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B44CC5E6-C756-3E89-A032-AECFB42FF551}"/>
              </a:ext>
            </a:extLst>
          </p:cNvPr>
          <p:cNvSpPr txBox="1"/>
          <p:nvPr/>
        </p:nvSpPr>
        <p:spPr>
          <a:xfrm>
            <a:off x="2303933" y="3152703"/>
            <a:ext cx="27494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2000" b="1" dirty="0">
                <a:solidFill>
                  <a:srgbClr val="3333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训练和测试集文件示例</a:t>
            </a:r>
          </a:p>
        </p:txBody>
      </p:sp>
    </p:spTree>
    <p:extLst>
      <p:ext uri="{BB962C8B-B14F-4D97-AF65-F5344CB8AC3E}">
        <p14:creationId xmlns:p14="http://schemas.microsoft.com/office/powerpoint/2010/main" val="26338360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A3</a:t>
            </a:r>
            <a:r>
              <a:rPr lang="zh-CN" altLang="en-US" dirty="0"/>
              <a:t>：</a:t>
            </a:r>
            <a:r>
              <a:rPr spc="200">
                <a:cs typeface="微软雅黑" panose="020B0503020204020204" pitchFamily="34" charset="-122"/>
                <a:sym typeface="+mn-ea"/>
              </a:rPr>
              <a:t>偏好数据构造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3"/>
          </p:nvPr>
        </p:nvSpPr>
        <p:spPr>
          <a:xfrm>
            <a:off x="234530" y="1066272"/>
            <a:ext cx="11523274" cy="4290732"/>
          </a:xfrm>
        </p:spPr>
        <p:txBody>
          <a:bodyPr>
            <a:normAutofit fontScale="95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2400" b="1" dirty="0"/>
              <a:t> </a:t>
            </a:r>
            <a:r>
              <a:rPr lang="zh-CN" altLang="en-US" sz="3400" b="1" dirty="0"/>
              <a:t> </a:t>
            </a:r>
            <a:r>
              <a:rPr lang="zh-CN" altLang="en-US" sz="2400" b="1" dirty="0">
                <a:sym typeface="Wingdings" panose="05000000000000000000" pitchFamily="2" charset="2"/>
              </a:rPr>
              <a:t>进阶要求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55" dirty="0">
                <a:sym typeface="Wingdings" panose="05000000000000000000" pitchFamily="2" charset="2"/>
              </a:rPr>
              <a:t>修改 </a:t>
            </a:r>
            <a:r>
              <a:rPr lang="en-US" altLang="zh-CN" sz="2055" dirty="0">
                <a:sym typeface="Wingdings" panose="05000000000000000000" pitchFamily="2" charset="2"/>
              </a:rPr>
              <a:t>prepare_dpo_data.py</a:t>
            </a:r>
            <a:r>
              <a:rPr lang="zh-CN" altLang="en-US" sz="2055" dirty="0">
                <a:sym typeface="Wingdings" panose="05000000000000000000" pitchFamily="2" charset="2"/>
              </a:rPr>
              <a:t>，增加数据统计功能，例如输出平均 </a:t>
            </a:r>
            <a:r>
              <a:rPr lang="en-US" altLang="zh-CN" sz="2055" dirty="0">
                <a:sym typeface="Wingdings" panose="05000000000000000000" pitchFamily="2" charset="2"/>
              </a:rPr>
              <a:t>prompt </a:t>
            </a:r>
            <a:r>
              <a:rPr lang="zh-CN" altLang="en-US" sz="2055" dirty="0">
                <a:sym typeface="Wingdings" panose="05000000000000000000" pitchFamily="2" charset="2"/>
              </a:rPr>
              <a:t>长度、</a:t>
            </a:r>
            <a:r>
              <a:rPr lang="en-US" altLang="zh-CN" sz="2055" dirty="0">
                <a:sym typeface="Wingdings" panose="05000000000000000000" pitchFamily="2" charset="2"/>
              </a:rPr>
              <a:t>chosen </a:t>
            </a:r>
            <a:r>
              <a:rPr lang="zh-CN" altLang="en-US" sz="2055" dirty="0">
                <a:sym typeface="Wingdings" panose="05000000000000000000" pitchFamily="2" charset="2"/>
              </a:rPr>
              <a:t>长度、</a:t>
            </a:r>
            <a:r>
              <a:rPr lang="en-US" altLang="zh-CN" sz="2055" dirty="0">
                <a:sym typeface="Wingdings" panose="05000000000000000000" pitchFamily="2" charset="2"/>
              </a:rPr>
              <a:t>rejected </a:t>
            </a:r>
            <a:r>
              <a:rPr lang="zh-CN" altLang="en-US" sz="2055" dirty="0">
                <a:sym typeface="Wingdings" panose="05000000000000000000" pitchFamily="2" charset="2"/>
              </a:rPr>
              <a:t>长度。</a:t>
            </a:r>
            <a:endParaRPr lang="en-US" altLang="zh-CN" sz="2055" dirty="0">
              <a:sym typeface="Wingdings" panose="05000000000000000000" pitchFamily="2" charset="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55" dirty="0">
                <a:sym typeface="Wingdings" panose="05000000000000000000" pitchFamily="2" charset="2"/>
              </a:rPr>
              <a:t>增加数据质量过滤逻辑，例如过滤掉 </a:t>
            </a:r>
            <a:r>
              <a:rPr lang="en-US" altLang="zh-CN" sz="2055" dirty="0">
                <a:sym typeface="Wingdings" panose="05000000000000000000" pitchFamily="2" charset="2"/>
              </a:rPr>
              <a:t>chosen </a:t>
            </a:r>
            <a:r>
              <a:rPr lang="zh-CN" altLang="en-US" sz="2055" dirty="0">
                <a:sym typeface="Wingdings" panose="05000000000000000000" pitchFamily="2" charset="2"/>
              </a:rPr>
              <a:t>或 </a:t>
            </a:r>
            <a:r>
              <a:rPr lang="en-US" altLang="zh-CN" sz="2055" dirty="0">
                <a:sym typeface="Wingdings" panose="05000000000000000000" pitchFamily="2" charset="2"/>
              </a:rPr>
              <a:t>rejected </a:t>
            </a:r>
            <a:r>
              <a:rPr lang="zh-CN" altLang="en-US" sz="2055" dirty="0">
                <a:sym typeface="Wingdings" panose="05000000000000000000" pitchFamily="2" charset="2"/>
              </a:rPr>
              <a:t>太短的样本。</a:t>
            </a:r>
            <a:endParaRPr lang="en-US" altLang="zh-CN" sz="2055" dirty="0">
              <a:sym typeface="Wingdings" panose="05000000000000000000" pitchFamily="2" charset="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55" dirty="0">
                <a:sym typeface="Wingdings" panose="05000000000000000000" pitchFamily="2" charset="2"/>
              </a:rPr>
              <a:t>增加命令行参数 </a:t>
            </a:r>
            <a:r>
              <a:rPr lang="en-US" altLang="zh-CN" sz="2055" dirty="0">
                <a:sym typeface="Wingdings" panose="05000000000000000000" pitchFamily="2" charset="2"/>
              </a:rPr>
              <a:t>--</a:t>
            </a:r>
            <a:r>
              <a:rPr lang="en-US" altLang="zh-CN" sz="2055" dirty="0" err="1">
                <a:sym typeface="Wingdings" panose="05000000000000000000" pitchFamily="2" charset="2"/>
              </a:rPr>
              <a:t>min_response_len</a:t>
            </a:r>
            <a:r>
              <a:rPr lang="zh-CN" altLang="en-US" sz="2055" dirty="0">
                <a:sym typeface="Wingdings" panose="05000000000000000000" pitchFamily="2" charset="2"/>
              </a:rPr>
              <a:t>，用于控制最短回答长度。</a:t>
            </a:r>
            <a:endParaRPr lang="en-US" altLang="zh-CN" sz="2055" dirty="0">
              <a:sym typeface="Wingdings" panose="05000000000000000000" pitchFamily="2" charset="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55" dirty="0">
                <a:sym typeface="Wingdings" panose="05000000000000000000" pitchFamily="2" charset="2"/>
              </a:rPr>
              <a:t>将训练集和测试集划分比例从固定数量改为按比例划分，例如 </a:t>
            </a:r>
            <a:r>
              <a:rPr lang="en-US" altLang="zh-CN" sz="2055" dirty="0">
                <a:sym typeface="Wingdings" panose="05000000000000000000" pitchFamily="2" charset="2"/>
              </a:rPr>
              <a:t>95% </a:t>
            </a:r>
            <a:r>
              <a:rPr lang="zh-CN" altLang="en-US" sz="2055" dirty="0">
                <a:sym typeface="Wingdings" panose="05000000000000000000" pitchFamily="2" charset="2"/>
              </a:rPr>
              <a:t>训练、</a:t>
            </a:r>
            <a:r>
              <a:rPr lang="en-US" altLang="zh-CN" sz="2055" dirty="0">
                <a:sym typeface="Wingdings" panose="05000000000000000000" pitchFamily="2" charset="2"/>
              </a:rPr>
              <a:t>5% </a:t>
            </a:r>
            <a:r>
              <a:rPr lang="zh-CN" altLang="en-US" sz="2055" dirty="0">
                <a:sym typeface="Wingdings" panose="05000000000000000000" pitchFamily="2" charset="2"/>
              </a:rPr>
              <a:t>测试。</a:t>
            </a:r>
            <a:endParaRPr lang="en-US" altLang="zh-CN" sz="2055" dirty="0">
              <a:sym typeface="Wingdings" panose="05000000000000000000" pitchFamily="2" charset="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55" dirty="0">
                <a:sym typeface="Wingdings" panose="05000000000000000000" pitchFamily="2" charset="2"/>
              </a:rPr>
              <a:t>增加数据预览文件，例如额外输出 </a:t>
            </a:r>
            <a:r>
              <a:rPr lang="en-US" altLang="zh-CN" sz="2055" dirty="0" err="1">
                <a:sym typeface="Wingdings" panose="05000000000000000000" pitchFamily="2" charset="2"/>
              </a:rPr>
              <a:t>sample_preview.json</a:t>
            </a:r>
            <a:r>
              <a:rPr lang="zh-CN" altLang="en-US" sz="2055" dirty="0">
                <a:sym typeface="Wingdings" panose="05000000000000000000" pitchFamily="2" charset="2"/>
              </a:rPr>
              <a:t>，保存前 </a:t>
            </a:r>
            <a:r>
              <a:rPr lang="en-US" altLang="zh-CN" sz="2055" dirty="0">
                <a:sym typeface="Wingdings" panose="05000000000000000000" pitchFamily="2" charset="2"/>
              </a:rPr>
              <a:t>10 </a:t>
            </a:r>
            <a:r>
              <a:rPr lang="zh-CN" altLang="en-US" sz="2055" dirty="0">
                <a:sym typeface="Wingdings" panose="05000000000000000000" pitchFamily="2" charset="2"/>
              </a:rPr>
              <a:t>条转换后的样本，方便人工检查。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altLang="zh-CN" sz="2055" b="1" dirty="0"/>
          </a:p>
          <a:p>
            <a:pPr marL="457200" lvl="1" indent="0">
              <a:buNone/>
            </a:pPr>
            <a:endParaRPr lang="zh-CN" altLang="en-US" sz="2855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168BB-329B-4EC0-BBCE-DC6BA5995A49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681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A4</a:t>
            </a:r>
            <a:r>
              <a:rPr lang="zh-CN" altLang="en-US" dirty="0"/>
              <a:t>：</a:t>
            </a:r>
            <a:r>
              <a:rPr lang="en-US" altLang="zh-CN" spc="200">
                <a:cs typeface="微软雅黑" panose="020B0503020204020204" pitchFamily="34" charset="-122"/>
                <a:sym typeface="+mn-ea"/>
              </a:rPr>
              <a:t>DPO</a:t>
            </a:r>
            <a:r>
              <a:rPr spc="200">
                <a:cs typeface="微软雅黑" panose="020B0503020204020204" pitchFamily="34" charset="-122"/>
                <a:sym typeface="+mn-ea"/>
              </a:rPr>
              <a:t>对齐训练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3"/>
          </p:nvPr>
        </p:nvSpPr>
        <p:spPr>
          <a:xfrm>
            <a:off x="403858" y="1047664"/>
            <a:ext cx="11433100" cy="238133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2400" b="1" dirty="0"/>
              <a:t>  模型与环境配置：</a:t>
            </a:r>
            <a:endParaRPr lang="en-US" altLang="zh-CN" sz="2400" b="1" dirty="0"/>
          </a:p>
          <a:p>
            <a:pPr marL="914400" lvl="1" indent="-457200">
              <a:buAutoNum type="arabicPeriod"/>
            </a:pPr>
            <a:r>
              <a:rPr lang="zh-CN" altLang="en-US" sz="2200" b="1" dirty="0">
                <a:sym typeface="Wingdings" panose="05000000000000000000" pitchFamily="2" charset="2"/>
              </a:rPr>
              <a:t>环境：</a:t>
            </a:r>
            <a:r>
              <a:rPr lang="zh-CN" altLang="en-US" sz="2200" dirty="0">
                <a:sym typeface="Wingdings" panose="05000000000000000000" pitchFamily="2" charset="2"/>
              </a:rPr>
              <a:t>使用之前配置好的环境，激活环境</a:t>
            </a:r>
            <a:r>
              <a:rPr lang="en-US" altLang="zh-CN" sz="2200" dirty="0" err="1">
                <a:sym typeface="Wingdings" panose="05000000000000000000" pitchFamily="2" charset="2"/>
              </a:rPr>
              <a:t>conda</a:t>
            </a:r>
            <a:r>
              <a:rPr lang="en-US" altLang="zh-CN" sz="2200" dirty="0">
                <a:sym typeface="Wingdings" panose="05000000000000000000" pitchFamily="2" charset="2"/>
              </a:rPr>
              <a:t> activate </a:t>
            </a:r>
            <a:r>
              <a:rPr lang="en-US" altLang="zh-CN" sz="2200" dirty="0" err="1">
                <a:sym typeface="Wingdings" panose="05000000000000000000" pitchFamily="2" charset="2"/>
              </a:rPr>
              <a:t>your_env</a:t>
            </a:r>
            <a:endParaRPr lang="en-US" altLang="zh-CN" sz="2200" dirty="0">
              <a:sym typeface="Wingdings" panose="05000000000000000000" pitchFamily="2" charset="2"/>
            </a:endParaRPr>
          </a:p>
          <a:p>
            <a:pPr marL="914400" lvl="1" indent="-457200">
              <a:buAutoNum type="arabicPeriod"/>
            </a:pPr>
            <a:r>
              <a:rPr lang="zh-CN" altLang="en-US" sz="2200" b="1" dirty="0">
                <a:sym typeface="Wingdings" panose="05000000000000000000" pitchFamily="2" charset="2"/>
              </a:rPr>
              <a:t>模型</a:t>
            </a:r>
            <a:r>
              <a:rPr lang="en-US" altLang="zh-CN" sz="2200" b="1" dirty="0">
                <a:sym typeface="Wingdings" panose="05000000000000000000" pitchFamily="2" charset="2"/>
              </a:rPr>
              <a:t>:  </a:t>
            </a:r>
            <a:r>
              <a:rPr lang="zh-CN" altLang="en-US" sz="2200" dirty="0">
                <a:sym typeface="Wingdings" panose="05000000000000000000" pitchFamily="2" charset="2"/>
              </a:rPr>
              <a:t>保存在</a:t>
            </a:r>
            <a:r>
              <a:rPr lang="en-US" altLang="zh-CN" sz="2200" dirty="0" err="1">
                <a:sym typeface="Wingdings" panose="05000000000000000000" pitchFamily="2" charset="2"/>
              </a:rPr>
              <a:t>assignment_A</a:t>
            </a:r>
            <a:r>
              <a:rPr lang="en-US" altLang="zh-CN" sz="2200" dirty="0">
                <a:sym typeface="Wingdings" panose="05000000000000000000" pitchFamily="2" charset="2"/>
              </a:rPr>
              <a:t>/Qwen1.5-0.5B-Chat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2400" b="1" dirty="0">
                <a:sym typeface="Wingdings" panose="05000000000000000000" pitchFamily="2" charset="2"/>
              </a:rPr>
              <a:t>  训练数据格式：</a:t>
            </a:r>
            <a:r>
              <a:rPr lang="en-US" altLang="zh-CN" dirty="0"/>
              <a:t> </a:t>
            </a:r>
            <a:r>
              <a:rPr lang="en-US" altLang="zh-CN" sz="2400" dirty="0"/>
              <a:t>本项目使用A3</a:t>
            </a:r>
            <a:r>
              <a:rPr lang="zh-CN" altLang="en-US" sz="2400" dirty="0"/>
              <a:t>任务生成好的训练数据，具体训练数据</a:t>
            </a:r>
            <a:r>
              <a:rPr lang="en-US" altLang="zh-CN" sz="2400" dirty="0" err="1"/>
              <a:t>示例</a:t>
            </a:r>
            <a:r>
              <a:rPr lang="zh-CN" altLang="en-US" sz="2400" dirty="0"/>
              <a:t>：</a:t>
            </a:r>
            <a:endParaRPr lang="en-US" altLang="zh-CN" sz="2400" b="1" dirty="0">
              <a:sym typeface="Wingdings" panose="05000000000000000000" pitchFamily="2" charset="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168BB-329B-4EC0-BBCE-DC6BA5995A49}" type="slidenum">
              <a:rPr lang="zh-CN" altLang="en-US" smtClean="0"/>
              <a:t>29</a:t>
            </a:fld>
            <a:endParaRPr lang="zh-CN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4405E1CE-79A8-C05F-D57B-5E32F668CE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684" y="3855667"/>
            <a:ext cx="6445516" cy="2373015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02DA95C2-6D5D-8F91-E245-E41B954599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7510" y="3855667"/>
            <a:ext cx="3134264" cy="2385369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2CE432D9-C3A2-FB52-8337-22D97B2D776B}"/>
              </a:ext>
            </a:extLst>
          </p:cNvPr>
          <p:cNvSpPr txBox="1"/>
          <p:nvPr/>
        </p:nvSpPr>
        <p:spPr>
          <a:xfrm>
            <a:off x="3368669" y="3381397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2000" b="1" dirty="0">
                <a:solidFill>
                  <a:srgbClr val="3333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训练数据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CCA8A39-7EB1-FB2B-C1C3-0DC095014313}"/>
              </a:ext>
            </a:extLst>
          </p:cNvPr>
          <p:cNvSpPr txBox="1"/>
          <p:nvPr/>
        </p:nvSpPr>
        <p:spPr>
          <a:xfrm>
            <a:off x="8639348" y="3405199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2000" b="1" dirty="0">
                <a:solidFill>
                  <a:srgbClr val="3333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注册信息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A4</a:t>
            </a:r>
            <a:r>
              <a:rPr lang="zh-CN" altLang="en-US" dirty="0"/>
              <a:t>：</a:t>
            </a:r>
            <a:r>
              <a:rPr lang="en-US" altLang="zh-CN" spc="200" dirty="0">
                <a:sym typeface="+mn-ea"/>
              </a:rPr>
              <a:t>DPO</a:t>
            </a:r>
            <a:r>
              <a:rPr lang="zh-CN" altLang="en-US" spc="200" dirty="0">
                <a:sym typeface="+mn-ea"/>
              </a:rPr>
              <a:t>对齐训练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3"/>
          </p:nvPr>
        </p:nvSpPr>
        <p:spPr>
          <a:xfrm>
            <a:off x="234530" y="1066272"/>
            <a:ext cx="11523274" cy="4221719"/>
          </a:xfrm>
        </p:spPr>
        <p:txBody>
          <a:bodyPr>
            <a:normAutofit fontScale="72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3300" b="1" dirty="0"/>
              <a:t>  </a:t>
            </a:r>
            <a:r>
              <a:rPr lang="zh-CN" altLang="en-US" sz="3300" b="1" dirty="0">
                <a:sym typeface="Wingdings" panose="05000000000000000000" pitchFamily="2" charset="2"/>
              </a:rPr>
              <a:t>本节实训基础要求（可以在当前代码的引导下完全实现）：</a:t>
            </a:r>
          </a:p>
          <a:p>
            <a:pPr lvl="1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sym typeface="Wingdings" panose="05000000000000000000" pitchFamily="2" charset="2"/>
              </a:rPr>
              <a:t>基于已经构造好的 </a:t>
            </a:r>
            <a:r>
              <a:rPr lang="en-US" altLang="zh-CN" sz="2800" dirty="0" err="1">
                <a:sym typeface="Wingdings" panose="05000000000000000000" pitchFamily="2" charset="2"/>
              </a:rPr>
              <a:t>code_dpo_train.json</a:t>
            </a:r>
            <a:r>
              <a:rPr lang="zh-CN" altLang="en-US" sz="2800" dirty="0">
                <a:sym typeface="Wingdings" panose="05000000000000000000" pitchFamily="2" charset="2"/>
              </a:rPr>
              <a:t>，配置 </a:t>
            </a:r>
            <a:r>
              <a:rPr lang="en-US" altLang="zh-CN" sz="2800" dirty="0">
                <a:sym typeface="Wingdings" panose="05000000000000000000" pitchFamily="2" charset="2"/>
              </a:rPr>
              <a:t>DPO </a:t>
            </a:r>
            <a:r>
              <a:rPr lang="zh-CN" altLang="en-US" sz="2800" dirty="0">
                <a:sym typeface="Wingdings" panose="05000000000000000000" pitchFamily="2" charset="2"/>
              </a:rPr>
              <a:t>训练所需的数据路径和数据集名称。</a:t>
            </a:r>
            <a:endParaRPr lang="en-US" altLang="zh-CN" sz="2800" dirty="0">
              <a:sym typeface="Wingdings" panose="05000000000000000000" pitchFamily="2" charset="2"/>
            </a:endParaRPr>
          </a:p>
          <a:p>
            <a:pPr lvl="1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sym typeface="Wingdings" panose="05000000000000000000" pitchFamily="2" charset="2"/>
              </a:rPr>
              <a:t>加载本地基础模型 </a:t>
            </a:r>
            <a:r>
              <a:rPr lang="en-US" altLang="zh-CN" sz="2800" dirty="0">
                <a:sym typeface="Wingdings" panose="05000000000000000000" pitchFamily="2" charset="2"/>
              </a:rPr>
              <a:t>Qwen1.5-0.5B-Chat</a:t>
            </a:r>
            <a:r>
              <a:rPr lang="zh-CN" altLang="en-US" sz="2800" dirty="0">
                <a:sym typeface="Wingdings" panose="05000000000000000000" pitchFamily="2" charset="2"/>
              </a:rPr>
              <a:t>，并将其同时作为训练初始模型和参考模型。</a:t>
            </a:r>
            <a:endParaRPr lang="en-US" altLang="zh-CN" sz="2800" dirty="0">
              <a:sym typeface="Wingdings" panose="05000000000000000000" pitchFamily="2" charset="2"/>
            </a:endParaRPr>
          </a:p>
          <a:p>
            <a:pPr lvl="1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sym typeface="Wingdings" panose="05000000000000000000" pitchFamily="2" charset="2"/>
              </a:rPr>
              <a:t>使用 </a:t>
            </a:r>
            <a:r>
              <a:rPr lang="en-US" altLang="zh-CN" sz="2800" dirty="0" err="1">
                <a:sym typeface="Wingdings" panose="05000000000000000000" pitchFamily="2" charset="2"/>
              </a:rPr>
              <a:t>LLaMA</a:t>
            </a:r>
            <a:r>
              <a:rPr lang="en-US" altLang="zh-CN" sz="2800" dirty="0">
                <a:sym typeface="Wingdings" panose="05000000000000000000" pitchFamily="2" charset="2"/>
              </a:rPr>
              <a:t>-Factory </a:t>
            </a:r>
            <a:r>
              <a:rPr lang="zh-CN" altLang="en-US" sz="2800" dirty="0">
                <a:sym typeface="Wingdings" panose="05000000000000000000" pitchFamily="2" charset="2"/>
              </a:rPr>
              <a:t>启动 </a:t>
            </a:r>
            <a:r>
              <a:rPr lang="en-US" altLang="zh-CN" sz="2800" dirty="0">
                <a:sym typeface="Wingdings" panose="05000000000000000000" pitchFamily="2" charset="2"/>
              </a:rPr>
              <a:t>DPO </a:t>
            </a:r>
            <a:r>
              <a:rPr lang="zh-CN" altLang="en-US" sz="2800" dirty="0">
                <a:sym typeface="Wingdings" panose="05000000000000000000" pitchFamily="2" charset="2"/>
              </a:rPr>
              <a:t>训练流程，完成 </a:t>
            </a:r>
            <a:r>
              <a:rPr lang="en-US" altLang="zh-CN" sz="2800" dirty="0">
                <a:sym typeface="Wingdings" panose="05000000000000000000" pitchFamily="2" charset="2"/>
              </a:rPr>
              <a:t>chosen/rejected </a:t>
            </a:r>
            <a:r>
              <a:rPr lang="zh-CN" altLang="en-US" sz="2800" dirty="0">
                <a:sym typeface="Wingdings" panose="05000000000000000000" pitchFamily="2" charset="2"/>
              </a:rPr>
              <a:t>偏好对齐训练。</a:t>
            </a:r>
            <a:endParaRPr lang="en-US" altLang="zh-CN" sz="2800" dirty="0">
              <a:sym typeface="Wingdings" panose="05000000000000000000" pitchFamily="2" charset="2"/>
            </a:endParaRPr>
          </a:p>
          <a:p>
            <a:pPr lvl="1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sym typeface="Wingdings" panose="05000000000000000000" pitchFamily="2" charset="2"/>
              </a:rPr>
              <a:t>配置训练过程中的关键参数，包括训练轮数、学习率、</a:t>
            </a:r>
            <a:r>
              <a:rPr lang="en-US" altLang="zh-CN" sz="2800" dirty="0">
                <a:sym typeface="Wingdings" panose="05000000000000000000" pitchFamily="2" charset="2"/>
              </a:rPr>
              <a:t>batch size</a:t>
            </a:r>
            <a:r>
              <a:rPr lang="zh-CN" altLang="en-US" sz="2800" dirty="0">
                <a:sym typeface="Wingdings" panose="05000000000000000000" pitchFamily="2" charset="2"/>
              </a:rPr>
              <a:t>、梯度累积和最大输入长度</a:t>
            </a:r>
            <a:endParaRPr lang="en-US" altLang="zh-CN" sz="2800" dirty="0">
              <a:sym typeface="Wingdings" panose="05000000000000000000" pitchFamily="2" charset="2"/>
            </a:endParaRPr>
          </a:p>
          <a:p>
            <a:pPr lvl="1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sym typeface="Wingdings" panose="05000000000000000000" pitchFamily="2" charset="2"/>
              </a:rPr>
              <a:t>支持通过环境变量指定 </a:t>
            </a:r>
            <a:r>
              <a:rPr lang="en-US" altLang="zh-CN" sz="2800" dirty="0">
                <a:sym typeface="Wingdings" panose="05000000000000000000" pitchFamily="2" charset="2"/>
              </a:rPr>
              <a:t>GPU</a:t>
            </a:r>
            <a:r>
              <a:rPr lang="zh-CN" altLang="en-US" sz="2800" dirty="0">
                <a:sym typeface="Wingdings" panose="05000000000000000000" pitchFamily="2" charset="2"/>
              </a:rPr>
              <a:t>、</a:t>
            </a:r>
            <a:r>
              <a:rPr lang="en-US" altLang="zh-CN" sz="2800" dirty="0">
                <a:sym typeface="Wingdings" panose="05000000000000000000" pitchFamily="2" charset="2"/>
              </a:rPr>
              <a:t>Python </a:t>
            </a:r>
            <a:r>
              <a:rPr lang="zh-CN" altLang="en-US" sz="2800" dirty="0">
                <a:sym typeface="Wingdings" panose="05000000000000000000" pitchFamily="2" charset="2"/>
              </a:rPr>
              <a:t>解释器和训练配置文件。</a:t>
            </a:r>
            <a:endParaRPr lang="en-US" altLang="zh-CN" sz="2800" dirty="0">
              <a:sym typeface="Wingdings" panose="05000000000000000000" pitchFamily="2" charset="2"/>
            </a:endParaRPr>
          </a:p>
          <a:p>
            <a:pPr lvl="1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sym typeface="Wingdings" panose="05000000000000000000" pitchFamily="2" charset="2"/>
              </a:rPr>
              <a:t>将训练后的模型、</a:t>
            </a:r>
            <a:r>
              <a:rPr lang="en-US" altLang="zh-CN" sz="2800" dirty="0">
                <a:sym typeface="Wingdings" panose="05000000000000000000" pitchFamily="2" charset="2"/>
              </a:rPr>
              <a:t>tokenizer</a:t>
            </a:r>
            <a:r>
              <a:rPr lang="zh-CN" altLang="en-US" sz="2800" dirty="0">
                <a:sym typeface="Wingdings" panose="05000000000000000000" pitchFamily="2" charset="2"/>
              </a:rPr>
              <a:t>、训练状态和日志保存到指定输出目录。</a:t>
            </a:r>
            <a:endParaRPr lang="en-US" altLang="zh-CN" sz="2800" dirty="0">
              <a:sym typeface="Wingdings" panose="05000000000000000000" pitchFamily="2" charset="2"/>
            </a:endParaRPr>
          </a:p>
          <a:p>
            <a:pPr lvl="1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sym typeface="Wingdings" panose="05000000000000000000" pitchFamily="2" charset="2"/>
              </a:rPr>
              <a:t>评估模型的性能，使用给出的评估脚本，或者使用公开的</a:t>
            </a:r>
            <a:r>
              <a:rPr lang="en-US" altLang="zh-CN" sz="2800" dirty="0">
                <a:sym typeface="Wingdings" panose="05000000000000000000" pitchFamily="2" charset="2"/>
              </a:rPr>
              <a:t>benchmark</a:t>
            </a:r>
            <a:endParaRPr lang="zh-CN" altLang="en-US" sz="28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zh-CN" altLang="en-US" sz="2055" b="1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altLang="zh-CN" sz="2055" b="1" dirty="0"/>
          </a:p>
          <a:p>
            <a:pPr marL="457200" lvl="1" indent="0">
              <a:buNone/>
            </a:pPr>
            <a:endParaRPr lang="zh-CN" altLang="en-US" sz="2855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168BB-329B-4EC0-BBCE-DC6BA5995A49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02617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A4</a:t>
            </a:r>
            <a:r>
              <a:rPr lang="zh-CN" altLang="en-US" dirty="0"/>
              <a:t>：</a:t>
            </a:r>
            <a:r>
              <a:rPr lang="en-US" altLang="zh-CN" spc="200" dirty="0">
                <a:sym typeface="+mn-ea"/>
              </a:rPr>
              <a:t>DPO</a:t>
            </a:r>
            <a:r>
              <a:rPr lang="zh-CN" altLang="en-US" spc="200" dirty="0">
                <a:sym typeface="+mn-ea"/>
              </a:rPr>
              <a:t>对齐训练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3"/>
          </p:nvPr>
        </p:nvSpPr>
        <p:spPr>
          <a:xfrm>
            <a:off x="234530" y="1066272"/>
            <a:ext cx="11393878" cy="4118203"/>
          </a:xfrm>
        </p:spPr>
        <p:txBody>
          <a:bodyPr>
            <a:normAutofit fontScale="650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3300" b="1" dirty="0"/>
              <a:t>  </a:t>
            </a:r>
            <a:r>
              <a:rPr lang="zh-CN" altLang="en-US" sz="3300" b="1" dirty="0">
                <a:sym typeface="Wingdings" panose="05000000000000000000" pitchFamily="2" charset="2"/>
              </a:rPr>
              <a:t>代码运行命令</a:t>
            </a:r>
          </a:p>
          <a:p>
            <a:pPr lvl="1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sym typeface="Wingdings" panose="05000000000000000000" pitchFamily="2" charset="2"/>
              </a:rPr>
              <a:t>激活配置好的环境：</a:t>
            </a:r>
            <a:r>
              <a:rPr lang="en-US" altLang="zh-CN" sz="2800" b="1" dirty="0" err="1">
                <a:solidFill>
                  <a:srgbClr val="FF0000"/>
                </a:solidFill>
                <a:sym typeface="Wingdings" panose="05000000000000000000" pitchFamily="2" charset="2"/>
              </a:rPr>
              <a:t>conda</a:t>
            </a:r>
            <a:r>
              <a:rPr lang="en-US" altLang="zh-CN" sz="2800" b="1" dirty="0">
                <a:solidFill>
                  <a:srgbClr val="FF0000"/>
                </a:solidFill>
                <a:sym typeface="Wingdings" panose="05000000000000000000" pitchFamily="2" charset="2"/>
              </a:rPr>
              <a:t> activate </a:t>
            </a:r>
            <a:r>
              <a:rPr lang="en-US" altLang="zh-CN" sz="2800" b="1" dirty="0" err="1">
                <a:solidFill>
                  <a:srgbClr val="FF0000"/>
                </a:solidFill>
                <a:sym typeface="Wingdings" panose="05000000000000000000" pitchFamily="2" charset="2"/>
              </a:rPr>
              <a:t>your_env</a:t>
            </a:r>
            <a:r>
              <a:rPr lang="en-US" altLang="zh-CN" sz="2800" b="1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</a:p>
          <a:p>
            <a:pPr lvl="1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sym typeface="Wingdings" panose="05000000000000000000" pitchFamily="2" charset="2"/>
              </a:rPr>
              <a:t>进入项目文件夹：</a:t>
            </a:r>
            <a:r>
              <a:rPr lang="en-US" altLang="zh-CN" sz="2800" b="1" dirty="0">
                <a:solidFill>
                  <a:srgbClr val="FF0000"/>
                </a:solidFill>
                <a:sym typeface="Wingdings" panose="05000000000000000000" pitchFamily="2" charset="2"/>
              </a:rPr>
              <a:t>cd </a:t>
            </a:r>
            <a:r>
              <a:rPr lang="en-US" altLang="zh-CN" sz="2800" b="1" dirty="0" err="1">
                <a:solidFill>
                  <a:srgbClr val="FF0000"/>
                </a:solidFill>
                <a:sym typeface="Wingdings" panose="05000000000000000000" pitchFamily="2" charset="2"/>
              </a:rPr>
              <a:t>assignment_A</a:t>
            </a:r>
            <a:endParaRPr lang="en-US" altLang="zh-CN" sz="2800" b="1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lvl="1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sym typeface="Wingdings" panose="05000000000000000000" pitchFamily="2" charset="2"/>
              </a:rPr>
              <a:t>训练入口脚本和配置脚本：</a:t>
            </a:r>
            <a:r>
              <a:rPr lang="en-US" altLang="zh-CN" sz="2800" dirty="0">
                <a:sym typeface="Wingdings" panose="05000000000000000000" pitchFamily="2" charset="2"/>
              </a:rPr>
              <a:t>dpo/scripts/train.sh  </a:t>
            </a:r>
            <a:r>
              <a:rPr lang="en-US" altLang="zh-CN" sz="2800" dirty="0" err="1">
                <a:sym typeface="Wingdings" panose="05000000000000000000" pitchFamily="2" charset="2"/>
              </a:rPr>
              <a:t>dpo</a:t>
            </a:r>
            <a:r>
              <a:rPr lang="en-US" altLang="zh-CN" sz="2800" dirty="0">
                <a:sym typeface="Wingdings" panose="05000000000000000000" pitchFamily="2" charset="2"/>
              </a:rPr>
              <a:t>/configs/qwen15_code_full_dpo.yaml</a:t>
            </a:r>
          </a:p>
          <a:p>
            <a:pPr lvl="1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sym typeface="Wingdings" panose="05000000000000000000" pitchFamily="2" charset="2"/>
              </a:rPr>
              <a:t>运行代码：</a:t>
            </a:r>
            <a:r>
              <a:rPr lang="en-US" altLang="zh-CN" sz="2800" dirty="0">
                <a:sym typeface="Wingdings" panose="05000000000000000000" pitchFamily="2" charset="2"/>
              </a:rPr>
              <a:t>bash dpo/scripts/train.sh</a:t>
            </a:r>
          </a:p>
          <a:p>
            <a:pPr lvl="2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zh-CN" altLang="en-US" sz="2500" dirty="0">
                <a:sym typeface="Wingdings" panose="05000000000000000000" pitchFamily="2" charset="2"/>
              </a:rPr>
              <a:t>指定</a:t>
            </a:r>
            <a:r>
              <a:rPr lang="en-US" altLang="zh-CN" sz="2500" dirty="0">
                <a:sym typeface="Wingdings" panose="05000000000000000000" pitchFamily="2" charset="2"/>
              </a:rPr>
              <a:t>GPU</a:t>
            </a:r>
            <a:r>
              <a:rPr lang="zh-CN" altLang="en-US" sz="2500" dirty="0">
                <a:sym typeface="Wingdings" panose="05000000000000000000" pitchFamily="2" charset="2"/>
              </a:rPr>
              <a:t>：</a:t>
            </a:r>
            <a:r>
              <a:rPr lang="en-US" altLang="zh-CN" sz="2500" dirty="0">
                <a:sym typeface="Wingdings" panose="05000000000000000000" pitchFamily="2" charset="2"/>
              </a:rPr>
              <a:t>GPU_ID=0 bash dpo/scripts/train.sh</a:t>
            </a:r>
            <a:endParaRPr lang="en-US" altLang="zh-CN" sz="2200" dirty="0">
              <a:sym typeface="Wingdings" panose="05000000000000000000" pitchFamily="2" charset="2"/>
            </a:endParaRPr>
          </a:p>
          <a:p>
            <a:pPr lvl="2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zh-CN" altLang="en-US" sz="2500" dirty="0">
                <a:sym typeface="Wingdings" panose="05000000000000000000" pitchFamily="2" charset="2"/>
              </a:rPr>
              <a:t>指定配置文件：</a:t>
            </a:r>
            <a:r>
              <a:rPr lang="en-US" altLang="zh-CN" sz="2500" dirty="0">
                <a:sym typeface="Wingdings" panose="05000000000000000000" pitchFamily="2" charset="2"/>
              </a:rPr>
              <a:t>CONFIG=</a:t>
            </a:r>
            <a:r>
              <a:rPr lang="en-US" altLang="zh-CN" sz="2500" dirty="0" err="1">
                <a:sym typeface="Wingdings" panose="05000000000000000000" pitchFamily="2" charset="2"/>
              </a:rPr>
              <a:t>dpo</a:t>
            </a:r>
            <a:r>
              <a:rPr lang="en-US" altLang="zh-CN" sz="2500" dirty="0">
                <a:sym typeface="Wingdings" panose="05000000000000000000" pitchFamily="2" charset="2"/>
              </a:rPr>
              <a:t>/configs/qwen15_code_full_dpo.yaml bash dpo/scripts/train.sh</a:t>
            </a:r>
            <a:endParaRPr lang="en-US" altLang="zh-CN" sz="22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sz="2800" dirty="0">
                <a:sym typeface="Wingdings" panose="05000000000000000000" pitchFamily="2" charset="2"/>
              </a:rPr>
              <a:t>评估代码：</a:t>
            </a:r>
            <a:endParaRPr lang="en-US" altLang="zh-CN" sz="2800" dirty="0">
              <a:sym typeface="Wingdings" panose="05000000000000000000" pitchFamily="2" charset="2"/>
            </a:endParaRPr>
          </a:p>
          <a:p>
            <a:pPr lvl="2">
              <a:buFont typeface="Wingdings" panose="05000000000000000000" pitchFamily="2" charset="2"/>
              <a:buChar char="Ø"/>
            </a:pPr>
            <a:r>
              <a:rPr lang="zh-CN" altLang="en-US" sz="2400" dirty="0">
                <a:sym typeface="Wingdings" panose="05000000000000000000" pitchFamily="2" charset="2"/>
              </a:rPr>
              <a:t>测</a:t>
            </a:r>
            <a:r>
              <a:rPr lang="en-US" altLang="zh-CN" sz="2400" dirty="0">
                <a:sym typeface="Wingdings" panose="05000000000000000000" pitchFamily="2" charset="2"/>
              </a:rPr>
              <a:t>base</a:t>
            </a:r>
            <a:r>
              <a:rPr lang="zh-CN" altLang="en-US" sz="2400" dirty="0">
                <a:sym typeface="Wingdings" panose="05000000000000000000" pitchFamily="2" charset="2"/>
              </a:rPr>
              <a:t>模型</a:t>
            </a:r>
            <a:r>
              <a:rPr lang="en-US" altLang="zh-CN" sz="2400" dirty="0">
                <a:sym typeface="Wingdings" panose="05000000000000000000" pitchFamily="2" charset="2"/>
              </a:rPr>
              <a:t>BATCH_SIZE=32 bash dpo/scripts/run_mbpp_base_eval.sh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zh-CN" altLang="en-US" sz="2400" dirty="0">
                <a:sym typeface="Wingdings" panose="05000000000000000000" pitchFamily="2" charset="2"/>
              </a:rPr>
              <a:t>测</a:t>
            </a:r>
            <a:r>
              <a:rPr lang="en-US" altLang="zh-CN" sz="2400" dirty="0" err="1">
                <a:sym typeface="Wingdings" panose="05000000000000000000" pitchFamily="2" charset="2"/>
              </a:rPr>
              <a:t>dpo</a:t>
            </a:r>
            <a:r>
              <a:rPr lang="zh-CN" altLang="en-US" sz="2400" dirty="0">
                <a:sym typeface="Wingdings" panose="05000000000000000000" pitchFamily="2" charset="2"/>
              </a:rPr>
              <a:t>模型 </a:t>
            </a:r>
            <a:r>
              <a:rPr lang="en-US" altLang="zh-CN" sz="2400" dirty="0">
                <a:sym typeface="Wingdings" panose="05000000000000000000" pitchFamily="2" charset="2"/>
              </a:rPr>
              <a:t>BATCH_SIZE=32 bash dpo/scripts/run_mbpp_dpo_final_eval.sh</a:t>
            </a:r>
            <a:endParaRPr lang="zh-CN" altLang="en-US" sz="24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altLang="zh-CN" sz="2055" b="1" dirty="0"/>
          </a:p>
          <a:p>
            <a:pPr marL="457200" lvl="1" indent="0">
              <a:buNone/>
            </a:pPr>
            <a:endParaRPr lang="zh-CN" altLang="en-US" sz="2855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168BB-329B-4EC0-BBCE-DC6BA5995A49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05924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A4</a:t>
            </a:r>
            <a:r>
              <a:rPr lang="zh-CN" altLang="en-US" dirty="0"/>
              <a:t>：</a:t>
            </a:r>
            <a:r>
              <a:rPr lang="en-US" altLang="zh-CN" spc="200" dirty="0">
                <a:sym typeface="+mn-ea"/>
              </a:rPr>
              <a:t>DPO</a:t>
            </a:r>
            <a:r>
              <a:rPr lang="zh-CN" altLang="en-US" spc="200" dirty="0">
                <a:sym typeface="+mn-ea"/>
              </a:rPr>
              <a:t>对齐训练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3"/>
          </p:nvPr>
        </p:nvSpPr>
        <p:spPr>
          <a:xfrm>
            <a:off x="403858" y="1045318"/>
            <a:ext cx="10662249" cy="688340"/>
          </a:xfrm>
        </p:spPr>
        <p:txBody>
          <a:bodyPr>
            <a:normAutofit fontScale="95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3300" b="1" dirty="0"/>
              <a:t>  </a:t>
            </a:r>
            <a:r>
              <a:rPr lang="zh-CN" altLang="en-US" sz="2500" b="1" dirty="0">
                <a:sym typeface="Wingdings" panose="05000000000000000000" pitchFamily="2" charset="2"/>
              </a:rPr>
              <a:t>代码运行图例</a:t>
            </a:r>
            <a:endParaRPr lang="en-US" altLang="zh-CN" sz="2500" b="1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zh-CN" altLang="en-US" sz="2055" b="1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altLang="zh-CN" sz="2055" b="1" dirty="0"/>
          </a:p>
          <a:p>
            <a:pPr marL="457200" lvl="1" indent="0">
              <a:buNone/>
            </a:pPr>
            <a:endParaRPr lang="zh-CN" altLang="en-US" sz="2855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168BB-329B-4EC0-BBCE-DC6BA5995A49}" type="slidenum">
              <a:rPr lang="zh-CN" altLang="en-US" smtClean="0"/>
              <a:t>32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99D4080-3940-262E-796D-7D7DDCAAFD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530" y="2616848"/>
            <a:ext cx="4595071" cy="2645019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8844EBC-20C0-9199-1845-66A5C613AD6F}"/>
              </a:ext>
            </a:extLst>
          </p:cNvPr>
          <p:cNvSpPr txBox="1"/>
          <p:nvPr/>
        </p:nvSpPr>
        <p:spPr>
          <a:xfrm>
            <a:off x="1182189" y="1986868"/>
            <a:ext cx="22365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000" b="1" dirty="0">
                <a:solidFill>
                  <a:srgbClr val="3333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训练时终端输出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6D8770E-6430-770D-8DF6-4B97B44823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4601" y="2503312"/>
            <a:ext cx="3829452" cy="2872089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0575520E-4DB3-E903-5B57-04BC6A64F957}"/>
              </a:ext>
            </a:extLst>
          </p:cNvPr>
          <p:cNvSpPr txBox="1"/>
          <p:nvPr/>
        </p:nvSpPr>
        <p:spPr>
          <a:xfrm>
            <a:off x="5589983" y="2023158"/>
            <a:ext cx="22365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000" b="1" dirty="0">
                <a:solidFill>
                  <a:srgbClr val="3333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损失曲线图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D14FCABD-6A9B-15CB-6558-91A15A9743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3397" y="2528801"/>
            <a:ext cx="2302873" cy="4143460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CE02FD74-9D00-6B01-7E37-1E886889977B}"/>
              </a:ext>
            </a:extLst>
          </p:cNvPr>
          <p:cNvSpPr txBox="1"/>
          <p:nvPr/>
        </p:nvSpPr>
        <p:spPr>
          <a:xfrm>
            <a:off x="9273397" y="2016183"/>
            <a:ext cx="22365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000" b="1" dirty="0">
                <a:solidFill>
                  <a:srgbClr val="3333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保存目录结果</a:t>
            </a:r>
          </a:p>
        </p:txBody>
      </p:sp>
    </p:spTree>
    <p:extLst>
      <p:ext uri="{BB962C8B-B14F-4D97-AF65-F5344CB8AC3E}">
        <p14:creationId xmlns:p14="http://schemas.microsoft.com/office/powerpoint/2010/main" val="6036463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A4</a:t>
            </a:r>
            <a:r>
              <a:rPr lang="zh-CN" altLang="en-US" dirty="0"/>
              <a:t>：</a:t>
            </a:r>
            <a:r>
              <a:rPr lang="en-US" altLang="zh-CN" spc="200" dirty="0">
                <a:sym typeface="+mn-ea"/>
              </a:rPr>
              <a:t>DPO</a:t>
            </a:r>
            <a:r>
              <a:rPr lang="zh-CN" altLang="en-US" spc="200" dirty="0">
                <a:sym typeface="+mn-ea"/>
              </a:rPr>
              <a:t>对齐训练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3"/>
          </p:nvPr>
        </p:nvSpPr>
        <p:spPr>
          <a:xfrm>
            <a:off x="403858" y="1045318"/>
            <a:ext cx="10662249" cy="688340"/>
          </a:xfrm>
        </p:spPr>
        <p:txBody>
          <a:bodyPr>
            <a:normAutofit fontScale="95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3300" b="1" dirty="0"/>
              <a:t>  </a:t>
            </a:r>
            <a:r>
              <a:rPr lang="zh-CN" altLang="en-US" sz="2500" b="1" dirty="0">
                <a:sym typeface="Wingdings" panose="05000000000000000000" pitchFamily="2" charset="2"/>
              </a:rPr>
              <a:t>代码运行图例</a:t>
            </a:r>
            <a:endParaRPr lang="en-US" altLang="zh-CN" sz="2500" b="1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zh-CN" altLang="en-US" sz="2055" b="1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altLang="zh-CN" sz="2055" b="1" dirty="0"/>
          </a:p>
          <a:p>
            <a:pPr marL="457200" lvl="1" indent="0">
              <a:buNone/>
            </a:pPr>
            <a:endParaRPr lang="zh-CN" altLang="en-US" sz="2855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168BB-329B-4EC0-BBCE-DC6BA5995A49}" type="slidenum">
              <a:rPr lang="zh-CN" altLang="en-US" smtClean="0"/>
              <a:t>33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8844EBC-20C0-9199-1845-66A5C613AD6F}"/>
              </a:ext>
            </a:extLst>
          </p:cNvPr>
          <p:cNvSpPr txBox="1"/>
          <p:nvPr/>
        </p:nvSpPr>
        <p:spPr>
          <a:xfrm>
            <a:off x="2139720" y="1939355"/>
            <a:ext cx="25961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000" b="1" dirty="0">
                <a:solidFill>
                  <a:srgbClr val="3333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Base</a:t>
            </a:r>
            <a:r>
              <a:rPr kumimoji="1" lang="zh-CN" altLang="en-US" sz="2000" b="1" dirty="0">
                <a:solidFill>
                  <a:srgbClr val="3333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测试结果和指标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79C1BC1-6879-E217-AA4B-47CA945FB7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159" y="2545162"/>
            <a:ext cx="4910217" cy="2656819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C52924A5-7F7B-8768-6FF7-2FDB89507A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1240" y="2545162"/>
            <a:ext cx="4975120" cy="2727536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C8F6FD8D-4CE3-E59F-F5BD-483078DEFB2F}"/>
              </a:ext>
            </a:extLst>
          </p:cNvPr>
          <p:cNvSpPr txBox="1"/>
          <p:nvPr/>
        </p:nvSpPr>
        <p:spPr>
          <a:xfrm>
            <a:off x="8150709" y="1964065"/>
            <a:ext cx="25961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000" b="1" dirty="0">
                <a:solidFill>
                  <a:srgbClr val="3333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DPO</a:t>
            </a:r>
            <a:r>
              <a:rPr kumimoji="1" lang="zh-CN" altLang="en-US" sz="2000" b="1" dirty="0">
                <a:solidFill>
                  <a:srgbClr val="3333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测试结果和指标</a:t>
            </a:r>
          </a:p>
        </p:txBody>
      </p:sp>
    </p:spTree>
    <p:extLst>
      <p:ext uri="{BB962C8B-B14F-4D97-AF65-F5344CB8AC3E}">
        <p14:creationId xmlns:p14="http://schemas.microsoft.com/office/powerpoint/2010/main" val="14459344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A4</a:t>
            </a:r>
            <a:r>
              <a:rPr lang="zh-CN" altLang="en-US" dirty="0"/>
              <a:t>：</a:t>
            </a:r>
            <a:r>
              <a:rPr lang="en-US" altLang="zh-CN" dirty="0"/>
              <a:t>DPO</a:t>
            </a:r>
            <a:r>
              <a:rPr lang="zh-CN" altLang="en-US" dirty="0"/>
              <a:t>对齐训练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3"/>
          </p:nvPr>
        </p:nvSpPr>
        <p:spPr>
          <a:xfrm>
            <a:off x="234530" y="1066272"/>
            <a:ext cx="11523274" cy="4290732"/>
          </a:xfrm>
        </p:spPr>
        <p:txBody>
          <a:bodyPr>
            <a:normAutofit fontScale="95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2400" b="1" dirty="0"/>
              <a:t> </a:t>
            </a:r>
            <a:r>
              <a:rPr lang="zh-CN" altLang="en-US" sz="3400" b="1" dirty="0"/>
              <a:t> </a:t>
            </a:r>
            <a:r>
              <a:rPr lang="zh-CN" altLang="en-US" sz="2400" b="1" dirty="0">
                <a:sym typeface="Wingdings" panose="05000000000000000000" pitchFamily="2" charset="2"/>
              </a:rPr>
              <a:t>进阶要求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55" dirty="0">
                <a:sym typeface="Wingdings" panose="05000000000000000000" pitchFamily="2" charset="2"/>
              </a:rPr>
              <a:t>将当前的全参数 </a:t>
            </a:r>
            <a:r>
              <a:rPr lang="en-US" altLang="zh-CN" sz="2055" dirty="0">
                <a:sym typeface="Wingdings" panose="05000000000000000000" pitchFamily="2" charset="2"/>
              </a:rPr>
              <a:t>DPO </a:t>
            </a:r>
            <a:r>
              <a:rPr lang="zh-CN" altLang="en-US" sz="2055" dirty="0">
                <a:sym typeface="Wingdings" panose="05000000000000000000" pitchFamily="2" charset="2"/>
              </a:rPr>
              <a:t>微调改为 </a:t>
            </a:r>
            <a:r>
              <a:rPr lang="en-US" altLang="zh-CN" sz="2055" dirty="0" err="1">
                <a:sym typeface="Wingdings" panose="05000000000000000000" pitchFamily="2" charset="2"/>
              </a:rPr>
              <a:t>LoRA</a:t>
            </a:r>
            <a:r>
              <a:rPr lang="en-US" altLang="zh-CN" sz="2055" dirty="0">
                <a:sym typeface="Wingdings" panose="05000000000000000000" pitchFamily="2" charset="2"/>
              </a:rPr>
              <a:t> </a:t>
            </a:r>
            <a:r>
              <a:rPr lang="zh-CN" altLang="en-US" sz="2055" dirty="0">
                <a:sym typeface="Wingdings" panose="05000000000000000000" pitchFamily="2" charset="2"/>
              </a:rPr>
              <a:t>微调方式。</a:t>
            </a:r>
            <a:endParaRPr lang="en-US" altLang="zh-CN" sz="2055" dirty="0">
              <a:sym typeface="Wingdings" panose="05000000000000000000" pitchFamily="2" charset="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55" dirty="0">
                <a:sym typeface="Wingdings" panose="05000000000000000000" pitchFamily="2" charset="2"/>
              </a:rPr>
              <a:t>使用 </a:t>
            </a:r>
            <a:r>
              <a:rPr lang="en-US" altLang="zh-CN" sz="2055" dirty="0" err="1">
                <a:sym typeface="Wingdings" panose="05000000000000000000" pitchFamily="2" charset="2"/>
              </a:rPr>
              <a:t>SimPO</a:t>
            </a:r>
            <a:r>
              <a:rPr lang="en-US" altLang="zh-CN" sz="2055" dirty="0">
                <a:sym typeface="Wingdings" panose="05000000000000000000" pitchFamily="2" charset="2"/>
              </a:rPr>
              <a:t> </a:t>
            </a:r>
            <a:r>
              <a:rPr lang="zh-CN" altLang="en-US" sz="2055" dirty="0">
                <a:sym typeface="Wingdings" panose="05000000000000000000" pitchFamily="2" charset="2"/>
              </a:rPr>
              <a:t>等 </a:t>
            </a:r>
            <a:r>
              <a:rPr lang="en-US" altLang="zh-CN" sz="2055" dirty="0">
                <a:sym typeface="Wingdings" panose="05000000000000000000" pitchFamily="2" charset="2"/>
              </a:rPr>
              <a:t>DPO </a:t>
            </a:r>
            <a:r>
              <a:rPr lang="zh-CN" altLang="en-US" sz="2055" dirty="0">
                <a:sym typeface="Wingdings" panose="05000000000000000000" pitchFamily="2" charset="2"/>
              </a:rPr>
              <a:t>的改进算法进行实验</a:t>
            </a:r>
            <a:endParaRPr lang="en-US" altLang="zh-CN" sz="2055" dirty="0">
              <a:sym typeface="Wingdings" panose="05000000000000000000" pitchFamily="2" charset="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55" dirty="0">
                <a:sym typeface="Wingdings" panose="05000000000000000000" pitchFamily="2" charset="2"/>
              </a:rPr>
              <a:t>尝试 </a:t>
            </a:r>
            <a:r>
              <a:rPr lang="en-US" altLang="zh-CN" sz="2055" dirty="0">
                <a:sym typeface="Wingdings" panose="05000000000000000000" pitchFamily="2" charset="2"/>
              </a:rPr>
              <a:t>GRPO </a:t>
            </a:r>
            <a:r>
              <a:rPr lang="zh-CN" altLang="en-US" sz="2055" dirty="0">
                <a:sym typeface="Wingdings" panose="05000000000000000000" pitchFamily="2" charset="2"/>
              </a:rPr>
              <a:t>或 </a:t>
            </a:r>
            <a:r>
              <a:rPr lang="en-US" altLang="zh-CN" sz="2055" dirty="0">
                <a:sym typeface="Wingdings" panose="05000000000000000000" pitchFamily="2" charset="2"/>
              </a:rPr>
              <a:t>PPO </a:t>
            </a:r>
            <a:r>
              <a:rPr lang="zh-CN" altLang="en-US" sz="2055" dirty="0">
                <a:sym typeface="Wingdings" panose="05000000000000000000" pitchFamily="2" charset="2"/>
              </a:rPr>
              <a:t>等强化学习式对齐算法。</a:t>
            </a:r>
            <a:endParaRPr lang="en-US" altLang="zh-CN" sz="2055" dirty="0">
              <a:sym typeface="Wingdings" panose="05000000000000000000" pitchFamily="2" charset="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55" dirty="0">
                <a:sym typeface="Wingdings" panose="05000000000000000000" pitchFamily="2" charset="2"/>
              </a:rPr>
              <a:t>设计代码任务专用 </a:t>
            </a:r>
            <a:r>
              <a:rPr lang="en-US" altLang="zh-CN" sz="2055" dirty="0">
                <a:sym typeface="Wingdings" panose="05000000000000000000" pitchFamily="2" charset="2"/>
              </a:rPr>
              <a:t>reward</a:t>
            </a:r>
            <a:r>
              <a:rPr lang="zh-CN" altLang="en-US" sz="2055" dirty="0">
                <a:sym typeface="Wingdings" panose="05000000000000000000" pitchFamily="2" charset="2"/>
              </a:rPr>
              <a:t>。对于 </a:t>
            </a:r>
            <a:r>
              <a:rPr lang="en-US" altLang="zh-CN" sz="2055" dirty="0">
                <a:sym typeface="Wingdings" panose="05000000000000000000" pitchFamily="2" charset="2"/>
              </a:rPr>
              <a:t>Python </a:t>
            </a:r>
            <a:r>
              <a:rPr lang="zh-CN" altLang="en-US" sz="2055" dirty="0">
                <a:sym typeface="Wingdings" panose="05000000000000000000" pitchFamily="2" charset="2"/>
              </a:rPr>
              <a:t>代码生成任务，学生可以尝试设计更贴合任务的 </a:t>
            </a:r>
            <a:r>
              <a:rPr lang="en-US" altLang="zh-CN" sz="2055" dirty="0">
                <a:sym typeface="Wingdings" panose="05000000000000000000" pitchFamily="2" charset="2"/>
              </a:rPr>
              <a:t>reward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sz="2055" dirty="0"/>
              <a:t>对比多种对齐算法的最终效果。</a:t>
            </a:r>
            <a:endParaRPr lang="en-US" altLang="zh-CN" sz="2055" dirty="0"/>
          </a:p>
          <a:p>
            <a:pPr marL="457200" lvl="1" indent="0">
              <a:buNone/>
            </a:pPr>
            <a:endParaRPr lang="zh-CN" altLang="en-US" sz="2855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168BB-329B-4EC0-BBCE-DC6BA5995A49}" type="slidenum">
              <a:rPr lang="zh-CN" altLang="en-US" smtClean="0"/>
              <a:t>34</a:t>
            </a:fld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CA35C6B-C54F-7797-9D10-4C22892E2895}"/>
              </a:ext>
            </a:extLst>
          </p:cNvPr>
          <p:cNvSpPr txBox="1"/>
          <p:nvPr/>
        </p:nvSpPr>
        <p:spPr>
          <a:xfrm>
            <a:off x="727493" y="4954581"/>
            <a:ext cx="1155077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3333B3"/>
              </a:buClr>
            </a:pPr>
            <a:r>
              <a:rPr lang="zh-CN" altLang="en-US" sz="1600" b="1" dirty="0"/>
              <a:t>相关论文：</a:t>
            </a:r>
            <a:endParaRPr lang="en-US" altLang="zh-CN" sz="1600" b="1" dirty="0"/>
          </a:p>
          <a:p>
            <a:pPr marL="285750" indent="-285750">
              <a:buClr>
                <a:srgbClr val="3333B3"/>
              </a:buClr>
              <a:buFont typeface="Arial" panose="020B0604020202020204" pitchFamily="34" charset="0"/>
              <a:buChar char="•"/>
            </a:pPr>
            <a:r>
              <a:rPr lang="en-US" altLang="zh-CN" b="1" dirty="0"/>
              <a:t>Direct Preference Optimization: Your Language Model is Secretly a Reward Model</a:t>
            </a:r>
          </a:p>
          <a:p>
            <a:pPr marL="285750" indent="-285750">
              <a:buClr>
                <a:srgbClr val="3333B3"/>
              </a:buClr>
              <a:buFont typeface="Arial" panose="020B0604020202020204" pitchFamily="34" charset="0"/>
              <a:buChar char="•"/>
            </a:pPr>
            <a:r>
              <a:rPr lang="en-US" altLang="zh-CN" b="1" dirty="0" err="1"/>
              <a:t>SimPO</a:t>
            </a:r>
            <a:r>
              <a:rPr lang="en-US" altLang="zh-CN" b="1" dirty="0"/>
              <a:t>: Simple Preference Optimization with a Reference-Free Reward</a:t>
            </a:r>
          </a:p>
          <a:p>
            <a:pPr marL="285750" indent="-285750">
              <a:buClr>
                <a:srgbClr val="3333B3"/>
              </a:buClr>
              <a:buFont typeface="Arial" panose="020B0604020202020204" pitchFamily="34" charset="0"/>
              <a:buChar char="•"/>
            </a:pPr>
            <a:r>
              <a:rPr lang="en-US" altLang="zh-CN" b="1" dirty="0" err="1"/>
              <a:t>DeepSeekMath</a:t>
            </a:r>
            <a:r>
              <a:rPr lang="en-US" altLang="zh-CN" b="1" dirty="0"/>
              <a:t>: Pushing the Limits of Mathematical Reasoning in Open Language Models </a:t>
            </a:r>
          </a:p>
        </p:txBody>
      </p:sp>
    </p:spTree>
    <p:extLst>
      <p:ext uri="{BB962C8B-B14F-4D97-AF65-F5344CB8AC3E}">
        <p14:creationId xmlns:p14="http://schemas.microsoft.com/office/powerpoint/2010/main" val="285419228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A5</a:t>
            </a:r>
            <a:r>
              <a:rPr lang="zh-CN" altLang="en-US" dirty="0"/>
              <a:t>：推理增强策略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3"/>
          </p:nvPr>
        </p:nvSpPr>
        <p:spPr>
          <a:xfrm>
            <a:off x="234530" y="1066273"/>
            <a:ext cx="11523274" cy="3842158"/>
          </a:xfrm>
        </p:spPr>
        <p:txBody>
          <a:bodyPr>
            <a:normAutofit fontScale="95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3300" b="1" dirty="0"/>
              <a:t>  </a:t>
            </a:r>
            <a:r>
              <a:rPr lang="zh-CN" altLang="en-US" sz="3300" b="1" dirty="0">
                <a:sym typeface="Wingdings" panose="05000000000000000000" pitchFamily="2" charset="2"/>
              </a:rPr>
              <a:t>本节实训基础要求（可以在当前代码的引导下完全实现）：</a:t>
            </a:r>
          </a:p>
          <a:p>
            <a:pPr lvl="1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zh-CN" altLang="en-US" sz="2100" dirty="0">
                <a:sym typeface="Wingdings" panose="05000000000000000000" pitchFamily="2" charset="2"/>
              </a:rPr>
              <a:t>使用 </a:t>
            </a:r>
            <a:r>
              <a:rPr lang="en-US" altLang="zh-CN" sz="2100" dirty="0" err="1">
                <a:sym typeface="Wingdings" panose="05000000000000000000" pitchFamily="2" charset="2"/>
              </a:rPr>
              <a:t>CoT</a:t>
            </a:r>
            <a:r>
              <a:rPr lang="en-US" altLang="zh-CN" sz="2100" dirty="0">
                <a:sym typeface="Wingdings" panose="05000000000000000000" pitchFamily="2" charset="2"/>
              </a:rPr>
              <a:t> few-shot prompt </a:t>
            </a:r>
            <a:r>
              <a:rPr lang="zh-CN" altLang="en-US" sz="2100" dirty="0">
                <a:sym typeface="Wingdings" panose="05000000000000000000" pitchFamily="2" charset="2"/>
              </a:rPr>
              <a:t>增强推理过程，引导模型输出 </a:t>
            </a:r>
            <a:r>
              <a:rPr lang="en-US" altLang="zh-CN" sz="2100" dirty="0">
                <a:sym typeface="Wingdings" panose="05000000000000000000" pitchFamily="2" charset="2"/>
              </a:rPr>
              <a:t>reasoning</a:t>
            </a:r>
            <a:r>
              <a:rPr lang="zh-CN" altLang="en-US" sz="2100" dirty="0">
                <a:sym typeface="Wingdings" panose="05000000000000000000" pitchFamily="2" charset="2"/>
              </a:rPr>
              <a:t>、</a:t>
            </a:r>
            <a:r>
              <a:rPr lang="en-US" altLang="zh-CN" sz="2100" dirty="0">
                <a:sym typeface="Wingdings" panose="05000000000000000000" pitchFamily="2" charset="2"/>
              </a:rPr>
              <a:t>key steps </a:t>
            </a:r>
            <a:r>
              <a:rPr lang="zh-CN" altLang="en-US" sz="2100" dirty="0">
                <a:sym typeface="Wingdings" panose="05000000000000000000" pitchFamily="2" charset="2"/>
              </a:rPr>
              <a:t>和 </a:t>
            </a:r>
            <a:r>
              <a:rPr lang="en-US" altLang="zh-CN" sz="2100" dirty="0">
                <a:sym typeface="Wingdings" panose="05000000000000000000" pitchFamily="2" charset="2"/>
              </a:rPr>
              <a:t>final code</a:t>
            </a:r>
            <a:r>
              <a:rPr lang="zh-CN" altLang="en-US" sz="2100" dirty="0">
                <a:sym typeface="Wingdings" panose="05000000000000000000" pitchFamily="2" charset="2"/>
              </a:rPr>
              <a:t>。</a:t>
            </a:r>
            <a:endParaRPr lang="en-US" altLang="zh-CN" sz="2100" dirty="0">
              <a:sym typeface="Wingdings" panose="05000000000000000000" pitchFamily="2" charset="2"/>
            </a:endParaRPr>
          </a:p>
          <a:p>
            <a:pPr lvl="1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zh-CN" altLang="en-US" sz="2100" dirty="0">
                <a:sym typeface="Wingdings" panose="05000000000000000000" pitchFamily="2" charset="2"/>
              </a:rPr>
              <a:t>将 </a:t>
            </a:r>
            <a:r>
              <a:rPr lang="en-US" altLang="zh-CN" sz="2100" dirty="0">
                <a:sym typeface="Wingdings" panose="05000000000000000000" pitchFamily="2" charset="2"/>
              </a:rPr>
              <a:t>before/after </a:t>
            </a:r>
            <a:r>
              <a:rPr lang="zh-CN" altLang="en-US" sz="2100" dirty="0">
                <a:sym typeface="Wingdings" panose="05000000000000000000" pitchFamily="2" charset="2"/>
              </a:rPr>
              <a:t>对比结果保存为 </a:t>
            </a:r>
            <a:r>
              <a:rPr lang="en-US" altLang="zh-CN" sz="2100" dirty="0" err="1">
                <a:sym typeface="Wingdings" panose="05000000000000000000" pitchFamily="2" charset="2"/>
              </a:rPr>
              <a:t>metrics.json</a:t>
            </a:r>
            <a:r>
              <a:rPr lang="zh-CN" altLang="en-US" sz="2100" dirty="0">
                <a:sym typeface="Wingdings" panose="05000000000000000000" pitchFamily="2" charset="2"/>
              </a:rPr>
              <a:t>、</a:t>
            </a:r>
            <a:r>
              <a:rPr lang="en-US" altLang="zh-CN" sz="2100" dirty="0" err="1">
                <a:sym typeface="Wingdings" panose="05000000000000000000" pitchFamily="2" charset="2"/>
              </a:rPr>
              <a:t>comparison.jsonl</a:t>
            </a:r>
            <a:r>
              <a:rPr lang="en-US" altLang="zh-CN" sz="2100" dirty="0">
                <a:sym typeface="Wingdings" panose="05000000000000000000" pitchFamily="2" charset="2"/>
              </a:rPr>
              <a:t> </a:t>
            </a:r>
            <a:r>
              <a:rPr lang="zh-CN" altLang="en-US" sz="2100" dirty="0">
                <a:sym typeface="Wingdings" panose="05000000000000000000" pitchFamily="2" charset="2"/>
              </a:rPr>
              <a:t>和 </a:t>
            </a:r>
            <a:r>
              <a:rPr lang="en-US" altLang="zh-CN" sz="2100" dirty="0">
                <a:sym typeface="Wingdings" panose="05000000000000000000" pitchFamily="2" charset="2"/>
              </a:rPr>
              <a:t>comparison.md</a:t>
            </a:r>
            <a:r>
              <a:rPr lang="zh-CN" altLang="en-US" sz="2100" dirty="0">
                <a:sym typeface="Wingdings" panose="05000000000000000000" pitchFamily="2" charset="2"/>
              </a:rPr>
              <a:t>，方便后续展示和分析。</a:t>
            </a:r>
            <a:endParaRPr lang="zh-CN" altLang="en-US" sz="2100" b="1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altLang="zh-CN" sz="2055" b="1" dirty="0"/>
          </a:p>
          <a:p>
            <a:pPr marL="457200" lvl="1" indent="0">
              <a:buNone/>
            </a:pPr>
            <a:endParaRPr lang="zh-CN" altLang="en-US" sz="2855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168BB-329B-4EC0-BBCE-DC6BA5995A49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15089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A5</a:t>
            </a:r>
            <a:r>
              <a:rPr lang="zh-CN" altLang="en-US" dirty="0"/>
              <a:t>：推理增强策略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3"/>
          </p:nvPr>
        </p:nvSpPr>
        <p:spPr>
          <a:xfrm>
            <a:off x="234530" y="1066272"/>
            <a:ext cx="10807281" cy="3919795"/>
          </a:xfrm>
        </p:spPr>
        <p:txBody>
          <a:bodyPr>
            <a:normAutofit fontScale="87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3300" b="1" dirty="0"/>
              <a:t>  </a:t>
            </a:r>
            <a:r>
              <a:rPr lang="zh-CN" altLang="en-US" sz="3300" b="1" dirty="0">
                <a:sym typeface="Wingdings" panose="05000000000000000000" pitchFamily="2" charset="2"/>
              </a:rPr>
              <a:t>代码运行命令</a:t>
            </a:r>
          </a:p>
          <a:p>
            <a:pPr lvl="1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sym typeface="Wingdings" panose="05000000000000000000" pitchFamily="2" charset="2"/>
              </a:rPr>
              <a:t>激活配置好的环境：</a:t>
            </a:r>
            <a:r>
              <a:rPr lang="en-US" altLang="zh-CN" sz="2800" b="1" dirty="0" err="1">
                <a:solidFill>
                  <a:srgbClr val="FF0000"/>
                </a:solidFill>
                <a:sym typeface="Wingdings" panose="05000000000000000000" pitchFamily="2" charset="2"/>
              </a:rPr>
              <a:t>conda</a:t>
            </a:r>
            <a:r>
              <a:rPr lang="en-US" altLang="zh-CN" sz="2800" b="1" dirty="0">
                <a:solidFill>
                  <a:srgbClr val="FF0000"/>
                </a:solidFill>
                <a:sym typeface="Wingdings" panose="05000000000000000000" pitchFamily="2" charset="2"/>
              </a:rPr>
              <a:t> activate </a:t>
            </a:r>
            <a:r>
              <a:rPr lang="en-US" altLang="zh-CN" sz="2800" b="1" dirty="0" err="1">
                <a:solidFill>
                  <a:srgbClr val="FF0000"/>
                </a:solidFill>
                <a:sym typeface="Wingdings" panose="05000000000000000000" pitchFamily="2" charset="2"/>
              </a:rPr>
              <a:t>your_env</a:t>
            </a:r>
            <a:r>
              <a:rPr lang="en-US" altLang="zh-CN" sz="2800" b="1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</a:p>
          <a:p>
            <a:pPr lvl="1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sym typeface="Wingdings" panose="05000000000000000000" pitchFamily="2" charset="2"/>
              </a:rPr>
              <a:t>进入项目文件夹：</a:t>
            </a:r>
            <a:r>
              <a:rPr lang="en-US" altLang="zh-CN" sz="2800" b="1" dirty="0">
                <a:solidFill>
                  <a:srgbClr val="FF0000"/>
                </a:solidFill>
                <a:sym typeface="Wingdings" panose="05000000000000000000" pitchFamily="2" charset="2"/>
              </a:rPr>
              <a:t>cd </a:t>
            </a:r>
            <a:r>
              <a:rPr lang="en-US" altLang="zh-CN" sz="2800" b="1" dirty="0" err="1">
                <a:solidFill>
                  <a:srgbClr val="FF0000"/>
                </a:solidFill>
                <a:sym typeface="Wingdings" panose="05000000000000000000" pitchFamily="2" charset="2"/>
              </a:rPr>
              <a:t>assignment_A</a:t>
            </a:r>
            <a:endParaRPr lang="en-US" altLang="zh-CN" sz="2800" b="1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lvl="1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sym typeface="Wingdings" panose="05000000000000000000" pitchFamily="2" charset="2"/>
              </a:rPr>
              <a:t>评估</a:t>
            </a:r>
            <a:r>
              <a:rPr lang="en-US" altLang="zh-CN" sz="2800" dirty="0">
                <a:sym typeface="Wingdings" panose="05000000000000000000" pitchFamily="2" charset="2"/>
              </a:rPr>
              <a:t>COT</a:t>
            </a:r>
            <a:r>
              <a:rPr lang="zh-CN" altLang="en-US" sz="2800" dirty="0">
                <a:sym typeface="Wingdings" panose="05000000000000000000" pitchFamily="2" charset="2"/>
              </a:rPr>
              <a:t>增强的模型的命令</a:t>
            </a:r>
            <a:endParaRPr lang="en-US" altLang="zh-CN" sz="2800" dirty="0">
              <a:sym typeface="Wingdings" panose="05000000000000000000" pitchFamily="2" charset="2"/>
            </a:endParaRPr>
          </a:p>
          <a:p>
            <a:pPr lvl="2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>
                <a:sym typeface="Wingdings" panose="05000000000000000000" pitchFamily="2" charset="2"/>
              </a:rPr>
              <a:t>MODEL_PATH=Qwen1.5-0.5B-Chat BATCH_SIZE=32 OUTPUT_DIR=</a:t>
            </a:r>
            <a:r>
              <a:rPr lang="en-US" altLang="zh-CN" sz="2400" dirty="0" err="1">
                <a:sym typeface="Wingdings" panose="05000000000000000000" pitchFamily="2" charset="2"/>
              </a:rPr>
              <a:t>tts</a:t>
            </a:r>
            <a:r>
              <a:rPr lang="en-US" altLang="zh-CN" sz="2400" dirty="0">
                <a:sym typeface="Wingdings" panose="05000000000000000000" pitchFamily="2" charset="2"/>
              </a:rPr>
              <a:t>/outputs/</a:t>
            </a:r>
            <a:r>
              <a:rPr lang="en-US" altLang="zh-CN" sz="2400" dirty="0" err="1">
                <a:sym typeface="Wingdings" panose="05000000000000000000" pitchFamily="2" charset="2"/>
              </a:rPr>
              <a:t>cot_code_eval_base</a:t>
            </a:r>
            <a:r>
              <a:rPr lang="en-US" altLang="zh-CN" sz="2400" dirty="0">
                <a:sym typeface="Wingdings" panose="05000000000000000000" pitchFamily="2" charset="2"/>
              </a:rPr>
              <a:t> bash tts/run_cot_code_eval.sh</a:t>
            </a:r>
          </a:p>
          <a:p>
            <a:pPr lvl="2">
              <a:buFont typeface="Wingdings" panose="05000000000000000000" pitchFamily="2" charset="2"/>
              <a:buChar char="Ø"/>
            </a:pPr>
            <a:endParaRPr lang="zh-CN" altLang="en-US" sz="2400" dirty="0">
              <a:sym typeface="Wingdings" panose="05000000000000000000" pitchFamily="2" charset="2"/>
            </a:endParaRPr>
          </a:p>
          <a:p>
            <a:pPr lvl="2">
              <a:buFont typeface="Wingdings" panose="05000000000000000000" pitchFamily="2" charset="2"/>
              <a:buChar char="Ø"/>
            </a:pPr>
            <a:endParaRPr lang="en-US" altLang="zh-CN" sz="1655" b="1" dirty="0"/>
          </a:p>
          <a:p>
            <a:pPr marL="914400" lvl="2" indent="0">
              <a:buNone/>
            </a:pPr>
            <a:endParaRPr lang="zh-CN" altLang="en-US" sz="2455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168BB-329B-4EC0-BBCE-DC6BA5995A49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09523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A5</a:t>
            </a:r>
            <a:r>
              <a:rPr lang="zh-CN" altLang="en-US" dirty="0"/>
              <a:t>：推理增强策略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3"/>
          </p:nvPr>
        </p:nvSpPr>
        <p:spPr>
          <a:xfrm>
            <a:off x="234530" y="1066273"/>
            <a:ext cx="6839130" cy="434723"/>
          </a:xfrm>
        </p:spPr>
        <p:txBody>
          <a:bodyPr>
            <a:normAutofit fontScale="650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3300" b="1" dirty="0"/>
              <a:t>  </a:t>
            </a:r>
            <a:r>
              <a:rPr lang="zh-CN" altLang="en-US" sz="3300" b="1" dirty="0">
                <a:sym typeface="Wingdings" panose="05000000000000000000" pitchFamily="2" charset="2"/>
              </a:rPr>
              <a:t>代码运行图例</a:t>
            </a:r>
          </a:p>
          <a:p>
            <a:pPr lvl="2">
              <a:buFont typeface="Wingdings" panose="05000000000000000000" pitchFamily="2" charset="2"/>
              <a:buChar char="Ø"/>
            </a:pPr>
            <a:endParaRPr lang="en-US" altLang="zh-CN" sz="1655" b="1" dirty="0"/>
          </a:p>
          <a:p>
            <a:pPr marL="914400" lvl="2" indent="0">
              <a:buNone/>
            </a:pPr>
            <a:endParaRPr lang="zh-CN" altLang="en-US" sz="2455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168BB-329B-4EC0-BBCE-DC6BA5995A49}" type="slidenum">
              <a:rPr lang="zh-CN" altLang="en-US" smtClean="0"/>
              <a:t>37</a:t>
            </a:fld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7D1E2E9-52C7-0037-E0B2-4E93EBA5B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1" y="2168375"/>
            <a:ext cx="6557959" cy="3304175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A3436AE1-2C33-4A63-98A5-9F7CE7C883F5}"/>
              </a:ext>
            </a:extLst>
          </p:cNvPr>
          <p:cNvSpPr txBox="1"/>
          <p:nvPr/>
        </p:nvSpPr>
        <p:spPr>
          <a:xfrm>
            <a:off x="1765909" y="1594164"/>
            <a:ext cx="4330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000" b="1" dirty="0">
                <a:solidFill>
                  <a:srgbClr val="3333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加入</a:t>
            </a:r>
            <a:r>
              <a:rPr kumimoji="1" lang="en-US" altLang="zh-CN" sz="2000" b="1" dirty="0">
                <a:solidFill>
                  <a:srgbClr val="3333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COT</a:t>
            </a:r>
            <a:r>
              <a:rPr kumimoji="1" lang="zh-CN" altLang="en-US" sz="2000" b="1" dirty="0">
                <a:solidFill>
                  <a:srgbClr val="3333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</a:t>
            </a:r>
            <a:r>
              <a:rPr kumimoji="1" lang="en-US" altLang="zh-CN" sz="2000" b="1" dirty="0">
                <a:solidFill>
                  <a:srgbClr val="3333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base</a:t>
            </a:r>
            <a:r>
              <a:rPr kumimoji="1" lang="zh-CN" altLang="en-US" sz="2000" b="1" dirty="0">
                <a:solidFill>
                  <a:srgbClr val="3333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测试结果和指标</a:t>
            </a:r>
          </a:p>
        </p:txBody>
      </p:sp>
    </p:spTree>
    <p:extLst>
      <p:ext uri="{BB962C8B-B14F-4D97-AF65-F5344CB8AC3E}">
        <p14:creationId xmlns:p14="http://schemas.microsoft.com/office/powerpoint/2010/main" val="309945591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A5</a:t>
            </a:r>
            <a:r>
              <a:rPr lang="zh-CN" altLang="en-US" dirty="0"/>
              <a:t>：推理增强策略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168BB-329B-4EC0-BBCE-DC6BA5995A49}" type="slidenum">
              <a:rPr lang="zh-CN" altLang="en-US" smtClean="0"/>
              <a:t>38</a:t>
            </a:fld>
            <a:endParaRPr lang="zh-CN" altLang="en-US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A3D33A5C-9E81-FD12-4CF5-8584A967080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234530" y="1066272"/>
            <a:ext cx="11523274" cy="4290732"/>
          </a:xfrm>
        </p:spPr>
        <p:txBody>
          <a:bodyPr>
            <a:normAutofit fontScale="95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2400" b="1" dirty="0"/>
              <a:t> </a:t>
            </a:r>
            <a:r>
              <a:rPr lang="zh-CN" altLang="en-US" sz="3400" b="1" dirty="0"/>
              <a:t> </a:t>
            </a:r>
            <a:r>
              <a:rPr lang="zh-CN" altLang="en-US" sz="2400" b="1" dirty="0">
                <a:sym typeface="Wingdings" panose="05000000000000000000" pitchFamily="2" charset="2"/>
              </a:rPr>
              <a:t>进阶要求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55" dirty="0">
                <a:sym typeface="Wingdings" panose="05000000000000000000" pitchFamily="2" charset="2"/>
              </a:rPr>
              <a:t>使用 </a:t>
            </a:r>
            <a:r>
              <a:rPr lang="en-US" altLang="zh-CN" sz="2055" dirty="0">
                <a:sym typeface="Wingdings" panose="05000000000000000000" pitchFamily="2" charset="2"/>
              </a:rPr>
              <a:t>Self-Consistency </a:t>
            </a:r>
            <a:r>
              <a:rPr lang="zh-CN" altLang="en-US" sz="2055" dirty="0">
                <a:sym typeface="Wingdings" panose="05000000000000000000" pitchFamily="2" charset="2"/>
              </a:rPr>
              <a:t>多路径采样</a:t>
            </a:r>
            <a:r>
              <a:rPr lang="en-US" altLang="zh-CN" sz="2055" dirty="0">
                <a:sym typeface="Wingdings" panose="05000000000000000000" pitchFamily="2" charset="2"/>
              </a:rPr>
              <a:t>,</a:t>
            </a:r>
            <a:r>
              <a:rPr lang="zh-CN" altLang="en-US" sz="2055" dirty="0">
                <a:sym typeface="Wingdings" panose="05000000000000000000" pitchFamily="2" charset="2"/>
              </a:rPr>
              <a:t>对同一道题采样多个推理路径，然后选择最一致的答案</a:t>
            </a:r>
            <a:endParaRPr lang="en-US" altLang="zh-CN" sz="2055" dirty="0">
              <a:sym typeface="Wingdings" panose="05000000000000000000" pitchFamily="2" charset="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55" dirty="0">
                <a:sym typeface="Wingdings" panose="05000000000000000000" pitchFamily="2" charset="2"/>
              </a:rPr>
              <a:t>实现 </a:t>
            </a:r>
            <a:r>
              <a:rPr lang="en-US" altLang="zh-CN" sz="2055" dirty="0">
                <a:sym typeface="Wingdings" panose="05000000000000000000" pitchFamily="2" charset="2"/>
              </a:rPr>
              <a:t>Best-of-N </a:t>
            </a:r>
            <a:r>
              <a:rPr lang="zh-CN" altLang="en-US" sz="2055" dirty="0">
                <a:sym typeface="Wingdings" panose="05000000000000000000" pitchFamily="2" charset="2"/>
              </a:rPr>
              <a:t>生成与重排序</a:t>
            </a:r>
            <a:endParaRPr lang="en-US" altLang="zh-CN" sz="2055" dirty="0">
              <a:sym typeface="Wingdings" panose="05000000000000000000" pitchFamily="2" charset="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55" dirty="0">
                <a:sym typeface="Wingdings" panose="05000000000000000000" pitchFamily="2" charset="2"/>
              </a:rPr>
              <a:t>实现 </a:t>
            </a:r>
            <a:r>
              <a:rPr lang="en-US" altLang="zh-CN" sz="2055" dirty="0" err="1">
                <a:sym typeface="Wingdings" panose="05000000000000000000" pitchFamily="2" charset="2"/>
              </a:rPr>
              <a:t>Reflexion</a:t>
            </a:r>
            <a:r>
              <a:rPr lang="en-US" altLang="zh-CN" sz="2055" dirty="0">
                <a:sym typeface="Wingdings" panose="05000000000000000000" pitchFamily="2" charset="2"/>
              </a:rPr>
              <a:t> </a:t>
            </a:r>
            <a:r>
              <a:rPr lang="zh-CN" altLang="en-US" sz="2055" dirty="0">
                <a:sym typeface="Wingdings" panose="05000000000000000000" pitchFamily="2" charset="2"/>
              </a:rPr>
              <a:t>反思修正机制。</a:t>
            </a:r>
            <a:endParaRPr lang="en-US" altLang="zh-CN" sz="2055" dirty="0">
              <a:sym typeface="Wingdings" panose="05000000000000000000" pitchFamily="2" charset="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55" dirty="0">
                <a:sym typeface="Wingdings" panose="05000000000000000000" pitchFamily="2" charset="2"/>
              </a:rPr>
              <a:t>实现 </a:t>
            </a:r>
            <a:r>
              <a:rPr lang="en-US" altLang="zh-CN" sz="2055" dirty="0">
                <a:sym typeface="Wingdings" panose="05000000000000000000" pitchFamily="2" charset="2"/>
              </a:rPr>
              <a:t>Tree of Thoughts</a:t>
            </a:r>
            <a:r>
              <a:rPr lang="zh-CN" altLang="en-US" sz="2055" dirty="0">
                <a:sym typeface="Wingdings" panose="05000000000000000000" pitchFamily="2" charset="2"/>
              </a:rPr>
              <a:t>搜索式推理生成多个中间思路，并对每条路径进行评分、扩展和剪枝。</a:t>
            </a:r>
            <a:endParaRPr lang="en-US" altLang="zh-CN" sz="2055" dirty="0">
              <a:sym typeface="Wingdings" panose="05000000000000000000" pitchFamily="2" charset="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55" dirty="0">
                <a:sym typeface="Wingdings" panose="05000000000000000000" pitchFamily="2" charset="2"/>
              </a:rPr>
              <a:t>对比不同 </a:t>
            </a:r>
            <a:r>
              <a:rPr lang="en-US" altLang="zh-CN" sz="2055" dirty="0">
                <a:sym typeface="Wingdings" panose="05000000000000000000" pitchFamily="2" charset="2"/>
              </a:rPr>
              <a:t>Test-Time Scaling </a:t>
            </a:r>
            <a:r>
              <a:rPr lang="zh-CN" altLang="en-US" sz="2055" dirty="0">
                <a:sym typeface="Wingdings" panose="05000000000000000000" pitchFamily="2" charset="2"/>
              </a:rPr>
              <a:t>策略的效果与成本</a:t>
            </a:r>
            <a:endParaRPr lang="en-US" altLang="zh-CN" sz="2055" dirty="0"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endParaRPr lang="zh-CN" altLang="en-US" sz="2855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F7C2AF4-0B60-88F8-26DD-78283AC377C1}"/>
              </a:ext>
            </a:extLst>
          </p:cNvPr>
          <p:cNvSpPr txBox="1"/>
          <p:nvPr/>
        </p:nvSpPr>
        <p:spPr>
          <a:xfrm>
            <a:off x="727493" y="4954581"/>
            <a:ext cx="1155077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3333B3"/>
              </a:buClr>
            </a:pPr>
            <a:r>
              <a:rPr lang="zh-CN" altLang="en-US" sz="1600" b="1" dirty="0"/>
              <a:t>相关论文：</a:t>
            </a:r>
            <a:endParaRPr lang="en-US" altLang="zh-CN" sz="1600" b="1" dirty="0"/>
          </a:p>
          <a:p>
            <a:pPr marL="285750" indent="-285750">
              <a:buClr>
                <a:srgbClr val="3333B3"/>
              </a:buClr>
              <a:buFont typeface="Arial" panose="020B0604020202020204" pitchFamily="34" charset="0"/>
              <a:buChar char="•"/>
            </a:pPr>
            <a:r>
              <a:rPr lang="en-US" altLang="zh-CN" b="1" dirty="0"/>
              <a:t>Self-Consistency Improves Chain of Thought Reasoning in Language Models</a:t>
            </a:r>
          </a:p>
          <a:p>
            <a:pPr marL="285750" indent="-285750">
              <a:buClr>
                <a:srgbClr val="3333B3"/>
              </a:buClr>
              <a:buFont typeface="Arial" panose="020B0604020202020204" pitchFamily="34" charset="0"/>
              <a:buChar char="•"/>
            </a:pPr>
            <a:r>
              <a:rPr lang="en-US" altLang="zh-CN" b="1" dirty="0"/>
              <a:t>Tree of Thoughts: Deliberate Problem Solving with Large Language Models</a:t>
            </a:r>
          </a:p>
          <a:p>
            <a:pPr marL="285750" indent="-285750">
              <a:buClr>
                <a:srgbClr val="3333B3"/>
              </a:buClr>
              <a:buFont typeface="Arial" panose="020B0604020202020204" pitchFamily="34" charset="0"/>
              <a:buChar char="•"/>
            </a:pPr>
            <a:endParaRPr lang="en-US" altLang="zh-CN" b="1" dirty="0"/>
          </a:p>
        </p:txBody>
      </p:sp>
    </p:spTree>
    <p:extLst>
      <p:ext uri="{BB962C8B-B14F-4D97-AF65-F5344CB8AC3E}">
        <p14:creationId xmlns:p14="http://schemas.microsoft.com/office/powerpoint/2010/main" val="20899323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ctr">
          <a:defRPr sz="5400" dirty="0" smtClean="0">
            <a:gradFill>
              <a:gsLst>
                <a:gs pos="50000">
                  <a:srgbClr val="3757D1"/>
                </a:gs>
                <a:gs pos="0">
                  <a:srgbClr val="2D2F99"/>
                </a:gs>
                <a:gs pos="100000">
                  <a:srgbClr val="8774DA"/>
                </a:gs>
              </a:gsLst>
              <a:lin scaled="0"/>
            </a:gra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773</TotalTime>
  <Words>3328</Words>
  <Application>Microsoft Office PowerPoint</Application>
  <PresentationFormat>宽屏</PresentationFormat>
  <Paragraphs>296</Paragraphs>
  <Slides>38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46" baseType="lpstr">
      <vt:lpstr>等线</vt:lpstr>
      <vt:lpstr>等线 Light</vt:lpstr>
      <vt:lpstr>微软雅黑</vt:lpstr>
      <vt:lpstr>微软雅黑 Light</vt:lpstr>
      <vt:lpstr>Arial</vt:lpstr>
      <vt:lpstr>Times New Roman</vt:lpstr>
      <vt:lpstr>Wingdings</vt:lpstr>
      <vt:lpstr>Office 主题​​</vt:lpstr>
      <vt:lpstr>PowerPoint 演示文稿</vt:lpstr>
      <vt:lpstr>总体要求</vt:lpstr>
      <vt:lpstr>个人模块要求</vt:lpstr>
      <vt:lpstr>A：大模型微调与推理增强</vt:lpstr>
      <vt:lpstr>A：大模型微调与推理增强</vt:lpstr>
      <vt:lpstr>A1: 推理指令数据构造</vt:lpstr>
      <vt:lpstr>A1: 推理指令数据构造</vt:lpstr>
      <vt:lpstr>A1: 推理指令数据构造</vt:lpstr>
      <vt:lpstr>A1: 推理指令数据构造</vt:lpstr>
      <vt:lpstr>A1: 推理指令数据构造</vt:lpstr>
      <vt:lpstr>A1: 推理指令数据构造</vt:lpstr>
      <vt:lpstr>A1: 推理指令数据构造</vt:lpstr>
      <vt:lpstr>A2: SFT微调</vt:lpstr>
      <vt:lpstr>A2: SFT微调</vt:lpstr>
      <vt:lpstr>A2: SFT微调</vt:lpstr>
      <vt:lpstr>A2: SFT微调</vt:lpstr>
      <vt:lpstr>A2: SFT微调</vt:lpstr>
      <vt:lpstr>A2: SFT微调</vt:lpstr>
      <vt:lpstr>A2: SFT微调</vt:lpstr>
      <vt:lpstr>A2: SFT微调</vt:lpstr>
      <vt:lpstr>A2: SFT微调</vt:lpstr>
      <vt:lpstr>A2: SFT微调</vt:lpstr>
      <vt:lpstr>A3：偏好数据构造</vt:lpstr>
      <vt:lpstr>A3：偏好数据构造</vt:lpstr>
      <vt:lpstr>A3：偏好数据构造</vt:lpstr>
      <vt:lpstr>A3：偏好数据构造</vt:lpstr>
      <vt:lpstr>A3：偏好数据构造</vt:lpstr>
      <vt:lpstr>A3：偏好数据构造</vt:lpstr>
      <vt:lpstr>A4：DPO对齐训练</vt:lpstr>
      <vt:lpstr>A4：DPO对齐训练</vt:lpstr>
      <vt:lpstr>A4：DPO对齐训练</vt:lpstr>
      <vt:lpstr>A4：DPO对齐训练</vt:lpstr>
      <vt:lpstr>A4：DPO对齐训练</vt:lpstr>
      <vt:lpstr>A4：DPO对齐训练</vt:lpstr>
      <vt:lpstr>A5：推理增强策略</vt:lpstr>
      <vt:lpstr>A5：推理增强策略</vt:lpstr>
      <vt:lpstr>A5：推理增强策略</vt:lpstr>
      <vt:lpstr>A5：推理增强策略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cky</dc:creator>
  <cp:lastModifiedBy>zhang junxiang</cp:lastModifiedBy>
  <cp:revision>436</cp:revision>
  <dcterms:created xsi:type="dcterms:W3CDTF">2025-02-10T06:29:00Z</dcterms:created>
  <dcterms:modified xsi:type="dcterms:W3CDTF">2026-06-25T00:41:19Z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7F611B615659451EB11103692D3C3C64_13</vt:lpwstr>
  </property>
</Properties>
</file>